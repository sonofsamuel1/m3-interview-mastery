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Title Slide: </a:t>
            </a:r>
            <a:r>
              <a:rPr b="1" sz="4800">
                <a:solidFill>
                  <a:srgbClr val="2C5282"/>
                </a:solidFill>
                <a:latin typeface="Helvetica Neue"/>
              </a:rPr>
              <a:t>"How to Increase Your Annual Income by $75K-$125K in 90 Days or Less (Without Applying Online)"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I want to show you how I went from being ghosted by companies..."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To having the best companies and hiring managers recruit me for their top sales roles..."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## SECTION 1A: BOLD PROMISE - INCOME-FOCUSED PROGRESSIVE REVEAL (NEW - Slides 4A-4E)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In the next 60 minutes, I'm going to show you how to increase your annual income..."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...by $75,000 to $125,000..."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...in the next 90 days or less..."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...without applying online, without recruiters, and without quitting your job..."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...using a proven system that takes just 30 minutes per day."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## SECTION 1B: CREDIBILITY SETUP (Slides 5-8)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But first I need to address the elephant in the room..."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Some of you might be wondering..."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Who is this guy? And why should I listen to him?"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Fair question..."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## SECTION 2: CREDIBILITY ESTABLISHMENT (Slides 9-12)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My name is Terrance Brandon, and I've been in sales for over 10 years..."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I've worked at companies like Google, Amazon, and Salesforce..."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But it wasn't always that way..."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In fact, just a few years ago, I was stuck at AT&amp;T making $130,000 a year after 10 years of hard work..."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## TIER 1 FUTURE PACING: Introduction (Slides 13A-13F)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Before I tell you my story, I want you to imagine something with me for just a moment..."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Imagine it's 90 days from today.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You're sitting at your kitchen table.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Your laptop is open.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You have a coffee in your hand—the good kind you actually enjoy, not the break room stuff you choke down to get through the day."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You're reviewing THREE job offers.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Not one. Not 'I hope someone calls me back.'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THREE companies are actively competing for YOU.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Each offer is $80,000 to $150,000 higher than what you're making right now."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And you get to CHOOSE."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Which company feels right?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Which role excites you?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Which comp package is best?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Which work arrangement fits your life?"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YOU'RE in control.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Not them.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You."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Hiring managers are calling YOUR references right now.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They're trying to convince YOU to join their team.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They're asking what it would take to get you to say yes."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You're not chasing them anymore.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They're recruiting you."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How would that feel?"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That weight you've been carrying?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The stress of applying and hearing nothing...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The fear that you're stuck forever...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Gone."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That's not fantasy.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That's exactly what happened to me.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In the next 60 minutes, I'll show you how to make it happen for YOU."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But I need to be honest with you..."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Getting to where I am today required me to completely change the way I thought about career advancement..."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I had to let go of everything I was taught about 'working hard' and 'paying my dues'..."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And I had to embrace a completely different approach..."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An approach that most people never discover..."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But once you see it, you can't unsee it..."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So let me show you what I discovered. Let me tell you my story..."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## SECRET #1: THE VEHICLE (Slides 21-50)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### </a:t>
            </a:r>
            <a:r>
              <a:rPr b="1" sz="4800">
                <a:solidFill>
                  <a:srgbClr val="2C5282"/>
                </a:solidFill>
                <a:latin typeface="Helvetica Neue"/>
              </a:rPr>
              <a:t>"Why Strategic Positioning Beats Traditional Job Search"</a:t>
            </a:r>
          </a:p>
          <a:p>
            <a:pPr algn="ctr">
              <a:spcAft>
                <a:spcPts val="1200"/>
              </a:spcAft>
            </a:pPr>
            <a:r>
              <a:rPr b="1" sz="5600">
                <a:solidFill>
                  <a:srgbClr val="1A365D"/>
                </a:solidFill>
                <a:latin typeface="Helvetica Neue"/>
              </a:rPr>
              <a:t>Purpose:</a:t>
            </a:r>
            <a:r>
              <a:rPr b="0" sz="4800">
                <a:solidFill>
                  <a:srgbClr val="2C5282"/>
                </a:solidFill>
                <a:latin typeface="Helvetica Neue"/>
              </a:rPr>
              <a:t> Break the FALSE BELIEF that "working harder and improving skills = more income"</a:t>
            </a:r>
          </a:p>
          <a:p>
            <a:pPr algn="ctr">
              <a:spcAft>
                <a:spcPts val="1200"/>
              </a:spcAft>
            </a:pPr>
            <a:r>
              <a:rPr b="1" sz="5600">
                <a:solidFill>
                  <a:srgbClr val="1A365D"/>
                </a:solidFill>
                <a:latin typeface="Helvetica Neue"/>
              </a:rPr>
              <a:t>Replace With:</a:t>
            </a:r>
            <a:r>
              <a:rPr b="0" sz="4800">
                <a:solidFill>
                  <a:srgbClr val="2C5282"/>
                </a:solidFill>
                <a:latin typeface="Helvetica Neue"/>
              </a:rPr>
              <a:t> TRUE BELIEF that "positioning in the right market = more income with same skills"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The first thing you need to understand is this: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Your income has nothing to do with how good you are at sales.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Let me tell you the story of how I learned this the hard way..."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## EPIPHANY BRIDGE #1: The Income Discovery (Aha Moment #1)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It was 2021.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I'd been at AT&amp;T for 10 years.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I'd worked my way up from $65,000 to $130,000.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I was proud of that. It felt like progress."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But here's what I didn't realize: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After 10 years of loyalty, after being a top performer, after giving everything to that company...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$130,000 was my ceiling.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That was as far as I could go."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And it wasn't enough."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I had debt I couldn't get out of.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My wife wanted to stay home with our daughter, but we couldn't afford it."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I was working long hours, stressed, and watching other people pass me by."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And then, in 2021, I got passed over for a promotion.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Again.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I was a top performer. Everyone knew it.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But it didn't matter."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Then one random day in the office, I overheard two coworkers talking.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They were talking about a guy who used to work with us. Someone who'd left AT&amp;T a year earlier.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And one of them said: 'Yeah, I heard he's making over $400,000 now at some software company.'"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I almost fell out of my chair.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$400,000?"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This was a guy I'd worked with. We had similar skills. Similar work ethic.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I'd even outperformed him when we worked together."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So I asked myself: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'How is he pulling this off?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I was pretty good at what I did, but I barely cracked $150,000 in my best year.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How is he making $400,000?'"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So I went down a rabbit hole.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I spent the next two weeks researching top sales roles industry-wide.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Google. Amazon. Salesforce. Snowflake. All the top tech companies.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And what I discovered changed my life forever."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I discovered that average salespeople at top companies were making hundreds of thousands of dollars more than top performers at companies like AT&amp;T."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Not because they were better at sales.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Not because they worked harder."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But because they worked at companies that PAY MORE for the same work."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And that's when it hit me: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Your income as a salesperson isn't determined by how good you are at sales.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Your income is determined by WHO is hiring you and WHICH market you're in."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It's not about performance.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It's about POSITIONING."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Everything I'd been taught was wrong.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They told me: 'Work hard, and you'll get ahead.'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But that's not true.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The role you're in matters MORE than how hard you work."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Let me give you an analogy that makes this crystal clear:"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Imagine you're paddling a canoe as hard as you can.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You're sweating. You're exhausted. You're giving it everything you've got.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And you're going 10 miles per hour."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Now imagine you take that same person, with that same effort, that same work ethic...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And you put them in a speedboat.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Suddenly they're going 60 miles per hour.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Same person. Same effort. Different vehicle. 6x results."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That's what I realized about sales careers: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If you're at AT&amp;T making $130,000, you're in a canoe.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If someone's at Salesforce making $500,000, they're in a speedboat.</a:t>
            </a:r>
          </a:p>
          <a:p>
            <a:pPr algn="ctr">
              <a:spcAft>
                <a:spcPts val="1200"/>
              </a:spcAft>
            </a:pPr>
            <a:r>
              <a:rPr b="1" sz="4800">
                <a:solidFill>
                  <a:srgbClr val="2C5282"/>
                </a:solidFill>
                <a:latin typeface="Helvetica Neue"/>
              </a:rPr>
              <a:t>It's not that they're better at sales than you. They're just in a better boat.</a:t>
            </a:r>
            <a:r>
              <a:rPr b="0" sz="4800">
                <a:solidFill>
                  <a:srgbClr val="2C5282"/>
                </a:solidFill>
                <a:latin typeface="Helvetica Neue"/>
              </a:rPr>
              <a:t>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Once I understood this principle—once I accepted that it's about WHERE you sell, not HOW WELL you sell—everything changed."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I stopped trying to be a better salesperson.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I started trying to be a better-POSITIONED salesperson."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And that's when the $80K-$150K raises became possible."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So what determines your positioning?"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1" sz="5600">
                <a:solidFill>
                  <a:srgbClr val="1A365D"/>
                </a:solidFill>
                <a:latin typeface="Helvetica Neue"/>
              </a:rPr>
              <a:t>WHO</a:t>
            </a:r>
            <a:r>
              <a:rPr b="0" sz="5600">
                <a:solidFill>
                  <a:srgbClr val="1A365D"/>
                </a:solidFill>
                <a:latin typeface="Helvetica Neue"/>
              </a:rPr>
              <a:t> is hiring you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Which company. Which market segment.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This determines your base compensation range."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1" sz="5600">
                <a:solidFill>
                  <a:srgbClr val="1A365D"/>
                </a:solidFill>
                <a:latin typeface="Helvetica Neue"/>
              </a:rPr>
              <a:t>WHICH</a:t>
            </a:r>
            <a:r>
              <a:rPr b="0" sz="5600">
                <a:solidFill>
                  <a:srgbClr val="1A365D"/>
                </a:solidFill>
                <a:latin typeface="Helvetica Neue"/>
              </a:rPr>
              <a:t> roles you target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The level. The comp structure. The opportunity.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This determines your specific income."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1" sz="5600">
                <a:solidFill>
                  <a:srgbClr val="1A365D"/>
                </a:solidFill>
                <a:latin typeface="Helvetica Neue"/>
              </a:rPr>
              <a:t>HOW</a:t>
            </a:r>
            <a:r>
              <a:rPr b="0" sz="5600">
                <a:solidFill>
                  <a:srgbClr val="1A365D"/>
                </a:solidFill>
                <a:latin typeface="Helvetica Neue"/>
              </a:rPr>
              <a:t> you position yourself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How you get in front of hiring managers.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Get these three right: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Your income can double or triple with the SAME skills you have today."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Now here's the good news: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Positioning is NOT about luck.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It's NOT about connections.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It's NOT about having an Ivy League degree."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**Positioning is a skill.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And skills can be learned.**"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Strategic positioning means:"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Instead of sending out 100 applications and hoping someone notices you...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You identify the 5-10 companies that pay $300K+ for your skillset."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Instead of competing with 2,000 other applicants...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You get in front of hiring managers BEFORE they post the job publicly."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Instead of being an applicant...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You become a candidate they're recruiting."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Let me give you a real example of how this works: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When Google posts a sales role online, they receive over 2,000 applications.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But do you know how many people they actually interview?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Less than 20.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That's a 1% interview rate if you apply online."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But here's what most people don't know: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Those 20 people who got interviewed?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Most of them DIDN'T apply online.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They were referred by employees.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They were recruited by hiring managers.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They were positioned as candidates, not applicants."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Once I understood this, I made a decision: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I was going to figure out how to get into one of those 'better boats.'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Not by applying online like everyone else.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But by positioning myself so companies like Google, Amazon, and Salesforce would WANT to recruit me."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And it worked.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Within a year, I went from AT&amp;T making $130,000...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To Salesforce making over $514,000 my first full year.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Same skills. Same work ethic. Same effort.</a:t>
            </a:r>
          </a:p>
          <a:p>
            <a:pPr algn="ctr">
              <a:spcAft>
                <a:spcPts val="1200"/>
              </a:spcAft>
            </a:pPr>
            <a:r>
              <a:rPr b="1" sz="5600">
                <a:solidFill>
                  <a:srgbClr val="1A365D"/>
                </a:solidFill>
                <a:latin typeface="Helvetica Neue"/>
              </a:rPr>
              <a:t>Different positioning. 4x income.</a:t>
            </a:r>
            <a:r>
              <a:rPr b="0" sz="5600">
                <a:solidFill>
                  <a:srgbClr val="1A365D"/>
                </a:solidFill>
                <a:latin typeface="Helvetica Neue"/>
              </a:rPr>
              <a:t>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But it wasn't just about the money."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At AT&amp;T, I was working 60-hour weeks.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At Salesforce, I work 40-hour weeks.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I have dinner with my family every night."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My wife got to stay home with our daughter.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We got out of debt."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So here's what I want you to understand from Secret #1: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Your income is not determined by how good you are at sales.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Your income is determined by your market positioning.</a:t>
            </a:r>
          </a:p>
          <a:p>
            <a:pPr algn="ctr">
              <a:spcAft>
                <a:spcPts val="1200"/>
              </a:spcAft>
            </a:pPr>
            <a:r>
              <a:rPr b="1" sz="4800">
                <a:solidFill>
                  <a:srgbClr val="2C5282"/>
                </a:solidFill>
                <a:latin typeface="Helvetica Neue"/>
              </a:rPr>
              <a:t>Get into the right boat, and the same effort that got you $130,000 can get you $500,000.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That's the power of strategic positioning."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Now, you might be thinking: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'Okay Terrance, that's great for you. You figured it out.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But can I do this? I don't have your background. I don't have connections at Google.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What if I'm not qualified for those $300K+ roles?'"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I get it.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I had the same doubts.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But let me tell you something that's going to blow your mind..."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You already have everything you need to get recruited for $300K+ roles."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You don't need better skills.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You don't need an MBA.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You don't need connections."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1" sz="4800">
                <a:solidFill>
                  <a:srgbClr val="2C5282"/>
                </a:solidFill>
                <a:latin typeface="Helvetica Neue"/>
              </a:rPr>
              <a:t>You just need to position what you already have correctly.</a:t>
            </a:r>
            <a:r>
              <a:rPr b="0" sz="4800">
                <a:solidFill>
                  <a:srgbClr val="2C5282"/>
                </a:solidFill>
                <a:latin typeface="Helvetica Neue"/>
              </a:rPr>
              <a:t>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Let me tell you the story of how I learned this lesson..."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1" sz="7200">
                <a:solidFill>
                  <a:srgbClr val="1A365D"/>
                </a:solidFill>
                <a:latin typeface="Helvetica Neue"/>
              </a:rPr>
              <a:t>SECRET #2</a:t>
            </a:r>
          </a:p>
          <a:p>
            <a:pPr algn="ctr">
              <a:spcAft>
                <a:spcPts val="1200"/>
              </a:spcAft>
            </a:pPr>
            <a:r>
              <a:rPr b="1" sz="4800">
                <a:solidFill>
                  <a:srgbClr val="2C5282"/>
                </a:solidFill>
                <a:latin typeface="Helvetica Neue"/>
              </a:rPr>
              <a:t>"You Already Have Everything You Need - Positioning Is Learnable"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## SECRET #2: INTERNAL BELIEFS (Slides 51-75)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### </a:t>
            </a:r>
            <a:r>
              <a:rPr b="1" sz="4800">
                <a:solidFill>
                  <a:srgbClr val="2C5282"/>
                </a:solidFill>
                <a:latin typeface="Helvetica Neue"/>
              </a:rPr>
              <a:t>"You Already Have Everything You Need - Positioning Is Learnable"</a:t>
            </a:r>
          </a:p>
          <a:p>
            <a:pPr algn="ctr">
              <a:spcAft>
                <a:spcPts val="1200"/>
              </a:spcAft>
            </a:pPr>
            <a:r>
              <a:rPr b="1" sz="5600">
                <a:solidFill>
                  <a:srgbClr val="1A365D"/>
                </a:solidFill>
                <a:latin typeface="Helvetica Neue"/>
              </a:rPr>
              <a:t>Purpose:</a:t>
            </a:r>
            <a:r>
              <a:rPr b="0" sz="4800">
                <a:solidFill>
                  <a:srgbClr val="2C5282"/>
                </a:solidFill>
                <a:latin typeface="Helvetica Neue"/>
              </a:rPr>
              <a:t> Break the FALSE BELIEF that "I'm not qualified for $300K+ roles"</a:t>
            </a:r>
          </a:p>
          <a:p>
            <a:pPr algn="ctr">
              <a:spcAft>
                <a:spcPts val="1200"/>
              </a:spcAft>
            </a:pPr>
            <a:r>
              <a:rPr b="1" sz="5600">
                <a:solidFill>
                  <a:srgbClr val="1A365D"/>
                </a:solidFill>
                <a:latin typeface="Helvetica Neue"/>
              </a:rPr>
              <a:t>Replace With:</a:t>
            </a:r>
            <a:r>
              <a:rPr b="0" sz="4800">
                <a:solidFill>
                  <a:srgbClr val="2C5282"/>
                </a:solidFill>
                <a:latin typeface="Helvetica Neue"/>
              </a:rPr>
              <a:t> TRUE BELIEF that "I'm already qualified - I just need to position my skills correctly"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## EPIPHANY BRIDGE #2: The Interview Mastery (Aha Moment #3)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So I'd figured out Secret #1: positioning beats performance.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I'd identified my target companies: Google, Amazon, Salesforce.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I'd created a plan to get in front of hiring managers.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And it worked. Within a week, I had interviews scheduled at all three companies."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I was on top of the world.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I thought: 'I figured it out. I beat the system. I'm getting interviews at the best companies in the world.'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I felt unstoppable."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And then came the Salesforce interview.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It was my first interview with a top-tier tech company.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I walked in feeling confident.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And I completely bombed it."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They asked me questions I wasn't prepared for.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Questions I'd never heard in traditional sales interviews.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Questions about deal structure, multi-threading, value frameworks.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I froze. I stumbled. I gave weak answers."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A week later, I got the email: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'Thank you for your interest, but we've decided to move forward with other candidates.'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Rejected.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I'd beaten the odds to GET the interview.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And then I blew it."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And all my old doubts came rushing back:"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'Maybe I'm not qualified for these roles after all.'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'Maybe I'm out of my league.'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'Maybe I should just stay at AT&amp;T and be grateful for what I have.'"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1" sz="5600">
                <a:solidFill>
                  <a:srgbClr val="1A365D"/>
                </a:solidFill>
                <a:latin typeface="Helvetica Neue"/>
              </a:rPr>
              <a:t>These are the beliefs Secret #2 will destroy.</a:t>
            </a:r>
            <a:r>
              <a:rPr b="0" sz="4800">
                <a:solidFill>
                  <a:srgbClr val="2C5282"/>
                </a:solidFill>
                <a:latin typeface="Helvetica Neue"/>
              </a:rPr>
              <a:t>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But here's what's crazy: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Within three days of that rejection, I got another message.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It was from a different hiring manager at Salesforce.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For a different team.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They wanted to interview me."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And that's when it hit me: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My positioning strategy was working.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I wasn't failing to GET interviews. That part was easy once I had the positioning down.</a:t>
            </a:r>
          </a:p>
          <a:p>
            <a:pPr algn="ctr">
              <a:spcAft>
                <a:spcPts val="1200"/>
              </a:spcAft>
            </a:pPr>
            <a:r>
              <a:rPr b="1" sz="4800">
                <a:solidFill>
                  <a:srgbClr val="2C5282"/>
                </a:solidFill>
                <a:latin typeface="Helvetica Neue"/>
              </a:rPr>
              <a:t>I was failing to WIN interviews. And that was a completely different skill.</a:t>
            </a:r>
            <a:r>
              <a:rPr b="0" sz="4800">
                <a:solidFill>
                  <a:srgbClr val="2C5282"/>
                </a:solidFill>
                <a:latin typeface="Helvetica Neue"/>
              </a:rPr>
              <a:t>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So I made another decision: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I was NOT going to bomb this second interview.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I was going to figure out exactly what these companies were looking for.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I was going to prepare like I'd never prepared before.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And I was going to position myself as the OBVIOUS choice."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So I spent the next week preparing."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I researched what Salesforce was hiring for.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I studied the team's challenges.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I prepared specific examples that positioned my experience as the exact solution they needed."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I practiced answering their questions until I could do it in my sleep."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And when I walked into that second interview?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It was completely different.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They asked tough questions—but this time, I was ready.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Every answer positioned me as someone who understood their problems and had solved them before.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Every example was tailored to what THEY needed, not just what I'd done."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At the end of the interview, the hiring manager said: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'I don't need to see anyone else. You're exactly what we're looking for.'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They fast-tracked me to the final interview.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And six days later, I was hired."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Here's what I learned from this experience: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The difference between bombing the first interview and crushing the second wasn't my skills.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I had the same skills both times.</a:t>
            </a:r>
          </a:p>
          <a:p>
            <a:pPr algn="ctr">
              <a:spcAft>
                <a:spcPts val="1200"/>
              </a:spcAft>
            </a:pPr>
            <a:r>
              <a:rPr b="1" sz="4800">
                <a:solidFill>
                  <a:srgbClr val="2C5282"/>
                </a:solidFill>
                <a:latin typeface="Helvetica Neue"/>
              </a:rPr>
              <a:t>The difference was my positioning. And positioning is LEARNABLE.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It's not talent. It's preparation."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So let me tell you something you need to hear: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You're already qualified for $300K+ roles.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You have the skills. You have the experience. You have the track record."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**You're not under-qualified.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You're under-POSITIONED.**"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Interview positioning means:"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Instead of walking into an interview and hoping you say the right thing...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You research what they're hiring for and prepare examples that position you as the solution."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Instead of talking about your generic experience...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You translate your experience into THEIR language and THEIR problems."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Instead of being one of many candidates...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You position yourself as THE obvious choice."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Here's the secret: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You don't need NEW skills to get $300K+ roles.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You need to REPOSITION your existing skills."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For example: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If you've been selling to mid-market companies, you have skills that translate to enterprise.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If you've been in inside sales, you have skills that translate to field sales.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If you've been in one industry, your skills translate to other industries."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**It's not about HAVING more.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It's about POSITIONING what you have correctly.**"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How do you position yourself for interviews?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Three simple steps:"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1" sz="5600">
                <a:solidFill>
                  <a:srgbClr val="1A365D"/>
                </a:solidFill>
                <a:latin typeface="Helvetica Neue"/>
              </a:rPr>
              <a:t>1. RESEARCH what THEY need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Understand their problems.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Their goals.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Their hiring criteria."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1" sz="5600">
                <a:solidFill>
                  <a:srgbClr val="1A365D"/>
                </a:solidFill>
                <a:latin typeface="Helvetica Neue"/>
              </a:rPr>
              <a:t>2. MAP YOUR experience to THEIR needs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Find examples from your background that solve their specific problems."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1" sz="5600">
                <a:solidFill>
                  <a:srgbClr val="1A365D"/>
                </a:solidFill>
                <a:latin typeface="Helvetica Neue"/>
              </a:rPr>
              <a:t>3. PRACTICE positioning your answers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Rehearse talking about your experience in their language.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That's it. Research. Map. Practice.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Do this, and you'll walk into interviews positioned to win."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Don't just take my word for it.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Let me tell you about Simon."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Simon was making $90,000 a year as an Account Executive in a telesales role.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Good job. But the pay wasn't enough to meet his family's needs.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He felt stuck. He'd been applying to higher-paying roles but kept getting rejected."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Simon thought: 'I'm in telesales. Nobody's going to hire me for a $280K enterprise role. I don't have the right experience.'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Sound familiar?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That's the 'I'm not qualified' belief.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And it's what keeps people stuck in $90K roles when they could be making $300K."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So I taught Simon the same framework I'd learned: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How to identify which skills translate from telesales to enterprise.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How to research what enterprise companies need.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How to position his experience as a solution to their problems.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How to prepare for interviews so he'd walk in positioned to win."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Within weeks of implementing the positioning strategies, Simon had interviews lined up.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And he landed a job offer for $280,000.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That's a $190,000 raise.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Over 3x his previous income.</a:t>
            </a:r>
          </a:p>
          <a:p>
            <a:pPr algn="ctr">
              <a:spcAft>
                <a:spcPts val="1200"/>
              </a:spcAft>
            </a:pPr>
            <a:r>
              <a:rPr b="1" sz="4800">
                <a:solidFill>
                  <a:srgbClr val="2C5282"/>
                </a:solidFill>
                <a:latin typeface="Helvetica Neue"/>
              </a:rPr>
              <a:t>Same person. Same core skills. Better positioning.</a:t>
            </a:r>
            <a:r>
              <a:rPr b="0" sz="4800">
                <a:solidFill>
                  <a:srgbClr val="2C5282"/>
                </a:solidFill>
                <a:latin typeface="Helvetica Neue"/>
              </a:rPr>
              <a:t>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Do you see the pattern?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I went from $130K to $514K with the same skills. Better positioning.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Simon went from $90K to $280K with the same skills. Better positioning.</a:t>
            </a:r>
          </a:p>
          <a:p>
            <a:pPr algn="ctr">
              <a:spcAft>
                <a:spcPts val="1200"/>
              </a:spcAft>
            </a:pPr>
            <a:r>
              <a:rPr b="1" sz="4800">
                <a:solidFill>
                  <a:srgbClr val="2C5282"/>
                </a:solidFill>
                <a:latin typeface="Helvetica Neue"/>
              </a:rPr>
              <a:t>This isn't luck. This isn't about being special. This is about mastering strategic positioning.</a:t>
            </a:r>
            <a:r>
              <a:rPr b="0" sz="4800">
                <a:solidFill>
                  <a:srgbClr val="2C5282"/>
                </a:solidFill>
                <a:latin typeface="Helvetica Neue"/>
              </a:rPr>
              <a:t>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So here's what I want you to take away from Secret #2: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You ARE qualified for $300K+ roles.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You don't need an MBA. You don't need more experience. You don't need connections.</a:t>
            </a:r>
          </a:p>
          <a:p>
            <a:pPr algn="ctr">
              <a:spcAft>
                <a:spcPts val="1200"/>
              </a:spcAft>
            </a:pPr>
            <a:r>
              <a:rPr b="1" sz="4800">
                <a:solidFill>
                  <a:srgbClr val="2C5282"/>
                </a:solidFill>
                <a:latin typeface="Helvetica Neue"/>
              </a:rPr>
              <a:t>You just need to position what you already have correctly.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Positioning is a skill. And skills can be learned.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If I could learn it, if Simon could learn it, you can learn it too."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Now, I know what you're thinking: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'Okay Terrance, I get it. Positioning beats performance. I'm already qualified.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But I have a full-time job. I have a family. I don't have time to research companies and position myself for hours every day.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And I can't afford to quit my job to search full-time.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This sounds great, but is it realistic for MY situation?'"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## SECRET #3: EXTERNAL BELIEFS (Slides 76-100)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### </a:t>
            </a:r>
            <a:r>
              <a:rPr b="1" sz="4800">
                <a:solidFill>
                  <a:srgbClr val="2C5282"/>
                </a:solidFill>
                <a:latin typeface="Helvetica Neue"/>
              </a:rPr>
              <a:t>"The 30-Minutes-Per-Day Positioning System That Works While You're Employed"</a:t>
            </a:r>
          </a:p>
          <a:p>
            <a:pPr algn="ctr">
              <a:spcAft>
                <a:spcPts val="1200"/>
              </a:spcAft>
            </a:pPr>
            <a:r>
              <a:rPr b="1" sz="5600">
                <a:solidFill>
                  <a:srgbClr val="1A365D"/>
                </a:solidFill>
                <a:latin typeface="Helvetica Neue"/>
              </a:rPr>
              <a:t>Purpose:</a:t>
            </a:r>
            <a:r>
              <a:rPr b="0" sz="4800">
                <a:solidFill>
                  <a:srgbClr val="2C5282"/>
                </a:solidFill>
                <a:latin typeface="Helvetica Neue"/>
              </a:rPr>
              <a:t> Break the FALSE BELIEF that "I don't have time/money/circumstances to do this"</a:t>
            </a:r>
          </a:p>
          <a:p>
            <a:pPr algn="ctr">
              <a:spcAft>
                <a:spcPts val="1200"/>
              </a:spcAft>
            </a:pPr>
            <a:r>
              <a:rPr b="1" sz="5600">
                <a:solidFill>
                  <a:srgbClr val="1A365D"/>
                </a:solidFill>
                <a:latin typeface="Helvetica Neue"/>
              </a:rPr>
              <a:t>Replace With:</a:t>
            </a:r>
            <a:r>
              <a:rPr b="0" sz="4800">
                <a:solidFill>
                  <a:srgbClr val="2C5282"/>
                </a:solidFill>
                <a:latin typeface="Helvetica Neue"/>
              </a:rPr>
              <a:t> TRUE BELIEF that "This system works with 30 minutes per day while I'm still employed"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1" sz="7200">
                <a:solidFill>
                  <a:srgbClr val="1A365D"/>
                </a:solidFill>
                <a:latin typeface="Helvetica Neue"/>
              </a:rPr>
              <a:t>SECRET #3</a:t>
            </a:r>
          </a:p>
          <a:p>
            <a:pPr algn="ctr">
              <a:spcAft>
                <a:spcPts val="1200"/>
              </a:spcAft>
            </a:pPr>
            <a:r>
              <a:rPr b="1" sz="4800">
                <a:solidFill>
                  <a:srgbClr val="2C5282"/>
                </a:solidFill>
                <a:latin typeface="Helvetica Neue"/>
              </a:rPr>
              <a:t>"The 30-Minutes-Per-Day System That Gets Results in Weeks, Not Years"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## EPIPHANY BRIDGE #3: The Access Strategy (Aha Moment #2)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Let me take you back to 2021.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I'd just had my epiphany about positioning.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I knew WHERE I wanted to be: companies like Google, Amazon, Salesforce.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I knew WHAT I needed to do: position myself so they'd recruit me.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But I had a problem..."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I was still working full-time at AT&amp;T.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60-hour weeks. Quota to hit. Customers to manage.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I had a wife and a young daughter.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I didn't have 8 hours a day to job search.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I couldn't quit my job and search full-time.</a:t>
            </a:r>
          </a:p>
          <a:p>
            <a:pPr algn="ctr">
              <a:spcAft>
                <a:spcPts val="1200"/>
              </a:spcAft>
            </a:pPr>
            <a:r>
              <a:rPr b="1" sz="4800">
                <a:solidFill>
                  <a:srgbClr val="2C5282"/>
                </a:solidFill>
                <a:latin typeface="Helvetica Neue"/>
              </a:rPr>
              <a:t>I needed a way to do this while still employed. With limited time. Without burning out.</a:t>
            </a:r>
            <a:r>
              <a:rPr b="0" sz="4800">
                <a:solidFill>
                  <a:srgbClr val="2C5282"/>
                </a:solidFill>
                <a:latin typeface="Helvetica Neue"/>
              </a:rPr>
              <a:t>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And there was another problem: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When I started researching how to get into top companies, everything I found said: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'You need connections at Google.'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'You need referrals to get past the ATS.'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'You need to network for months to build relationships.'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I didn't have months. I didn't have connections.</a:t>
            </a:r>
          </a:p>
          <a:p>
            <a:pPr algn="ctr">
              <a:spcAft>
                <a:spcPts val="1200"/>
              </a:spcAft>
            </a:pPr>
            <a:r>
              <a:rPr b="1" sz="5600">
                <a:solidFill>
                  <a:srgbClr val="1A365D"/>
                </a:solidFill>
                <a:latin typeface="Helvetica Neue"/>
              </a:rPr>
              <a:t>I needed a way to get results FAST.</a:t>
            </a:r>
            <a:r>
              <a:rPr b="0" sz="5600">
                <a:solidFill>
                  <a:srgbClr val="1A365D"/>
                </a:solidFill>
                <a:latin typeface="Helvetica Neue"/>
              </a:rPr>
              <a:t>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So I asked myself: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What if I could create a systematic process that worked in 30 minutes per day?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What if I could get in front of hiring managers at Google, Amazon, and Salesforce WITHOUT having connections there?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What if I could do this while still employed, without anyone at AT&amp;T knowing I was looking?</a:t>
            </a:r>
          </a:p>
          <a:p>
            <a:pPr algn="ctr">
              <a:spcAft>
                <a:spcPts val="1200"/>
              </a:spcAft>
            </a:pPr>
            <a:r>
              <a:rPr b="1" sz="5600">
                <a:solidFill>
                  <a:srgbClr val="1A365D"/>
                </a:solidFill>
                <a:latin typeface="Helvetica Neue"/>
              </a:rPr>
              <a:t>Was that even possible?</a:t>
            </a:r>
            <a:r>
              <a:rPr b="0" sz="5600">
                <a:solidFill>
                  <a:srgbClr val="1A365D"/>
                </a:solidFill>
                <a:latin typeface="Helvetica Neue"/>
              </a:rPr>
              <a:t>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That's when I had another epiphany: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The reason 2,000 people apply to Google and only 20 get interviewed isn't just about qualifications.</a:t>
            </a:r>
          </a:p>
          <a:p>
            <a:pPr algn="ctr">
              <a:spcAft>
                <a:spcPts val="1200"/>
              </a:spcAft>
            </a:pPr>
            <a:r>
              <a:rPr b="1" sz="5600">
                <a:solidFill>
                  <a:srgbClr val="1A365D"/>
                </a:solidFill>
                <a:latin typeface="Helvetica Neue"/>
              </a:rPr>
              <a:t>It's about mindshare.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Most candidates are never considered not because they CAN'T do the role...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But because they have ZERO mindshare with the person actually making the hiring decision."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So I thought: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What if I could gain mindshare with hiring managers at my target companies?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What if I could position myself so that when they have an opening, they think of ME?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What if I could do this systematically, predictably, in 30 minutes per day?</a:t>
            </a:r>
          </a:p>
          <a:p>
            <a:pPr algn="ctr">
              <a:spcAft>
                <a:spcPts val="1200"/>
              </a:spcAft>
            </a:pPr>
            <a:r>
              <a:rPr b="1" sz="6400">
                <a:solidFill>
                  <a:srgbClr val="1A365D"/>
                </a:solidFill>
                <a:latin typeface="Helvetica Neue"/>
              </a:rPr>
              <a:t>That's when I created what I now call the </a:t>
            </a:r>
            <a:r>
              <a:rPr b="1" sz="7200">
                <a:solidFill>
                  <a:srgbClr val="1A365D"/>
                </a:solidFill>
                <a:latin typeface="Helvetica Neue"/>
              </a:rPr>
              <a:t>Reverse Attraction Strategy.</a:t>
            </a:r>
            <a:r>
              <a:rPr b="1" sz="6400">
                <a:solidFill>
                  <a:srgbClr val="1A365D"/>
                </a:solidFill>
                <a:latin typeface="Helvetica Neue"/>
              </a:rPr>
              <a:t>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I created a simple plan.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It took 30 minutes per day.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I did it for just FIVE days.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I targeted three companies: Google, Amazon, Salesforce.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And I tracked what happened."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By the end of those five days...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I had interviews scheduled at Google, Amazon, AND Salesforce.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Not just one interview. Three interviews. At the three best companies in tech sales.</a:t>
            </a:r>
          </a:p>
          <a:p>
            <a:pPr algn="ctr">
              <a:spcAft>
                <a:spcPts val="1200"/>
              </a:spcAft>
            </a:pPr>
            <a:r>
              <a:rPr b="1" sz="4800">
                <a:solidFill>
                  <a:srgbClr val="2C5282"/>
                </a:solidFill>
                <a:latin typeface="Helvetica Neue"/>
              </a:rPr>
              <a:t>One week. 30 minutes per day. Zero connections. All three companies pursuing me.</a:t>
            </a:r>
            <a:r>
              <a:rPr b="0" sz="4800">
                <a:solidFill>
                  <a:srgbClr val="2C5282"/>
                </a:solidFill>
                <a:latin typeface="Helvetica Neue"/>
              </a:rPr>
              <a:t>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And that's when I learned the third and final lesson:</a:t>
            </a:r>
          </a:p>
          <a:p>
            <a:pPr algn="ctr">
              <a:spcAft>
                <a:spcPts val="1200"/>
              </a:spcAft>
            </a:pPr>
            <a:r>
              <a:rPr b="1" sz="5600">
                <a:solidFill>
                  <a:srgbClr val="1A365D"/>
                </a:solidFill>
                <a:latin typeface="Helvetica Neue"/>
              </a:rPr>
              <a:t>Access beats applications.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You don't need to be the most qualified candidate.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You don't need months to network.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You don't need connections.</a:t>
            </a:r>
          </a:p>
          <a:p>
            <a:pPr algn="ctr">
              <a:spcAft>
                <a:spcPts val="1200"/>
              </a:spcAft>
            </a:pPr>
            <a:r>
              <a:rPr b="1" sz="4800">
                <a:solidFill>
                  <a:srgbClr val="2C5282"/>
                </a:solidFill>
                <a:latin typeface="Helvetica Neue"/>
              </a:rPr>
              <a:t>You just need to gain mindshare with the right hiring managers. And you can do that in 30 minutes per day.</a:t>
            </a:r>
            <a:r>
              <a:rPr b="0" sz="4800">
                <a:solidFill>
                  <a:srgbClr val="2C5282"/>
                </a:solidFill>
                <a:latin typeface="Helvetica Neue"/>
              </a:rPr>
              <a:t>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1" sz="6400">
                <a:solidFill>
                  <a:srgbClr val="1A365D"/>
                </a:solidFill>
                <a:latin typeface="Helvetica Neue"/>
              </a:rPr>
              <a:t>So what IS the Reverse Attraction Strategy?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It's simple:"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Instead of applying to jobs and hoping someone sees your resume...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You gain mindshare with hiring managers BEFORE they post the job."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Instead of competing with 2,000 applicants...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You position yourself so hiring managers reach out to YOU when openings happen."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Instead of chasing opportunities...</a:t>
            </a:r>
          </a:p>
          <a:p>
            <a:pPr algn="ctr">
              <a:spcAft>
                <a:spcPts val="1200"/>
              </a:spcAft>
            </a:pPr>
            <a:r>
              <a:rPr b="1" sz="4800">
                <a:solidFill>
                  <a:srgbClr val="2C5282"/>
                </a:solidFill>
                <a:latin typeface="Helvetica Neue"/>
              </a:rPr>
              <a:t>You create a system where opportunities chase you.</a:t>
            </a:r>
            <a:r>
              <a:rPr b="0" sz="4800">
                <a:solidFill>
                  <a:srgbClr val="2C5282"/>
                </a:solidFill>
                <a:latin typeface="Helvetica Neue"/>
              </a:rPr>
              <a:t>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Here's why this strategy works: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Hiring managers at top companies have a problem: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They need great salespeople, but most of the applicants they see aren't qualified."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They're drowning in unqualified applications while struggling to find great talent."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1" sz="4800">
                <a:solidFill>
                  <a:srgbClr val="2C5282"/>
                </a:solidFill>
                <a:latin typeface="Helvetica Neue"/>
              </a:rPr>
              <a:t>When you position yourself strategically, you're solving THEIR problem.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You become visible. You demonstrate value. You gain mindshare.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And when they have an opening, they think of YOU first."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The 30-Minutes-Per-Day System:</a:t>
            </a:r>
          </a:p>
          <a:p>
            <a:pPr algn="ctr">
              <a:spcAft>
                <a:spcPts val="1200"/>
              </a:spcAft>
            </a:pPr>
            <a:r>
              <a:rPr b="1" sz="7200">
                <a:solidFill>
                  <a:srgbClr val="1A365D"/>
                </a:solidFill>
                <a:latin typeface="Helvetica Neue"/>
              </a:rPr>
              <a:t>P.R.I.N.T.</a:t>
            </a:r>
            <a:r>
              <a:rPr b="1" sz="6400">
                <a:solidFill>
                  <a:srgbClr val="1A365D"/>
                </a:solidFill>
                <a:latin typeface="Helvetica Neue"/>
              </a:rPr>
              <a:t>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1" sz="7200">
                <a:solidFill>
                  <a:srgbClr val="1A365D"/>
                </a:solidFill>
                <a:latin typeface="Helvetica Neue"/>
              </a:rPr>
              <a:t>P</a:t>
            </a:r>
            <a:r>
              <a:rPr b="1" sz="6400">
                <a:solidFill>
                  <a:srgbClr val="1A365D"/>
                </a:solidFill>
                <a:latin typeface="Helvetica Neue"/>
              </a:rPr>
              <a:t> - PROFILE MATCHING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Identify which companies/roles are your 'better boats'"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1" sz="7200">
                <a:solidFill>
                  <a:srgbClr val="1A365D"/>
                </a:solidFill>
                <a:latin typeface="Helvetica Neue"/>
              </a:rPr>
              <a:t>R</a:t>
            </a:r>
            <a:r>
              <a:rPr b="1" sz="6400">
                <a:solidFill>
                  <a:srgbClr val="1A365D"/>
                </a:solidFill>
                <a:latin typeface="Helvetica Neue"/>
              </a:rPr>
              <a:t> - REVERSE ATTRACTION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Gain mindshare with hiring managers"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1" sz="7200">
                <a:solidFill>
                  <a:srgbClr val="1A365D"/>
                </a:solidFill>
                <a:latin typeface="Helvetica Neue"/>
              </a:rPr>
              <a:t>I</a:t>
            </a:r>
            <a:r>
              <a:rPr b="1" sz="6400">
                <a:solidFill>
                  <a:srgbClr val="1A365D"/>
                </a:solidFill>
                <a:latin typeface="Helvetica Neue"/>
              </a:rPr>
              <a:t> - INTERVIEW MASTERY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Position yourself to win interviews"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1" sz="7200">
                <a:solidFill>
                  <a:srgbClr val="1A365D"/>
                </a:solidFill>
                <a:latin typeface="Helvetica Neue"/>
              </a:rPr>
              <a:t>N</a:t>
            </a:r>
            <a:r>
              <a:rPr b="1" sz="6400">
                <a:solidFill>
                  <a:srgbClr val="1A365D"/>
                </a:solidFill>
                <a:latin typeface="Helvetica Neue"/>
              </a:rPr>
              <a:t> - NEGOTIATING THE OFFER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Use leverage to maximize compensation"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1" sz="7200">
                <a:solidFill>
                  <a:srgbClr val="1A365D"/>
                </a:solidFill>
                <a:latin typeface="Helvetica Neue"/>
              </a:rPr>
              <a:t>T</a:t>
            </a:r>
            <a:r>
              <a:rPr b="1" sz="6400">
                <a:solidFill>
                  <a:srgbClr val="1A365D"/>
                </a:solidFill>
                <a:latin typeface="Helvetica Neue"/>
              </a:rPr>
              <a:t> - TELL YOUR STORY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Position your brand consistently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This system: $130K → $514K (me), $90K → $280K (Simon)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And this is the system I'm going to teach you today."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Why 30 minutes per day?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Because positioning isn't about VOLUME. It's about STRATEGY.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You don't need to send 100 applications.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You need to identify 5-10 target companies and position yourself strategically with each one.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You don't need 8-hour days.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You need 30 focused minutes doing the RIGHT activities.</a:t>
            </a:r>
          </a:p>
          <a:p>
            <a:pPr algn="ctr">
              <a:spcAft>
                <a:spcPts val="1200"/>
              </a:spcAft>
            </a:pPr>
            <a:r>
              <a:rPr b="1" sz="5600">
                <a:solidFill>
                  <a:srgbClr val="1A365D"/>
                </a:solidFill>
                <a:latin typeface="Helvetica Neue"/>
              </a:rPr>
              <a:t>Quality over quantity. Strategy over effort.</a:t>
            </a:r>
            <a:r>
              <a:rPr b="0" sz="5600">
                <a:solidFill>
                  <a:srgbClr val="1A365D"/>
                </a:solidFill>
                <a:latin typeface="Helvetica Neue"/>
              </a:rPr>
              <a:t>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And here's the best part: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You can do this while you're still employed.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Nobody at your current company needs to know."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You're not sending out hundreds of applications that can be traced back to you.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You're strategically positioning yourself with a handful of target companies."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30 minutes per day.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Before work. During lunch. After the kids go to bed."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1" sz="4800">
                <a:solidFill>
                  <a:srgbClr val="2C5282"/>
                </a:solidFill>
                <a:latin typeface="Helvetica Neue"/>
              </a:rPr>
              <a:t>You stay employed with income and benefits while positioning yourself for your next $75K-$125K raise.</a:t>
            </a:r>
            <a:r>
              <a:rPr b="0" sz="4800">
                <a:solidFill>
                  <a:srgbClr val="2C5282"/>
                </a:solidFill>
                <a:latin typeface="Helvetica Neue"/>
              </a:rPr>
              <a:t>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Let me tell you about Darrell.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Darrell was in the EXACT situation many of you are in right now."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Darrell was at AT&amp;T making $100,000 as an Account Manager.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He felt stuck. Underpaid. But he didn't see a path out.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He had a full-time job. He had bills. He couldn't just quit and search full-time.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Sound familiar?"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So I taught Darrell the P.R.I.N.T system.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He identified his target companies.</a:t>
            </a:r>
          </a:p>
          <a:p>
            <a:pPr algn="ctr">
              <a:spcAft>
                <a:spcPts val="1200"/>
              </a:spcAft>
            </a:pPr>
            <a:r>
              <a:rPr b="1" sz="6400">
                <a:solidFill>
                  <a:srgbClr val="1A365D"/>
                </a:solidFill>
                <a:latin typeface="Helvetica Neue"/>
              </a:rPr>
              <a:t>He implemented the Reverse Attraction strategy—30 minutes per day.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He prepared for interviews using the positioning framework.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All while still working full-time at AT&amp;T."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Within weeks, Darrell had interviews lined up.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He landed an offer for $90,000 more than he was making.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$100K to $190K.</a:t>
            </a:r>
          </a:p>
          <a:p>
            <a:pPr algn="ctr">
              <a:spcAft>
                <a:spcPts val="1200"/>
              </a:spcAft>
            </a:pPr>
            <a:r>
              <a:rPr b="1" sz="4800">
                <a:solidFill>
                  <a:srgbClr val="2C5282"/>
                </a:solidFill>
                <a:latin typeface="Helvetica Neue"/>
              </a:rPr>
              <a:t>30 minutes per day. Still employed. First major raise.</a:t>
            </a:r>
            <a:r>
              <a:rPr b="0" sz="4800">
                <a:solidFill>
                  <a:srgbClr val="2C5282"/>
                </a:solidFill>
                <a:latin typeface="Helvetica Neue"/>
              </a:rPr>
              <a:t>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But here's what's even better: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A year later, Darrell used the SAME EXACT METHOD to get another raise.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Another $80,000 increase plus a $70,000 stock bonus.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Because once you master positioning, you can use it again and again.</a:t>
            </a:r>
          </a:p>
          <a:p>
            <a:pPr algn="ctr">
              <a:spcAft>
                <a:spcPts val="1200"/>
              </a:spcAft>
            </a:pPr>
            <a:r>
              <a:rPr b="1" sz="4800">
                <a:solidFill>
                  <a:srgbClr val="2C5282"/>
                </a:solidFill>
                <a:latin typeface="Helvetica Neue"/>
              </a:rPr>
              <a:t>Darrell went from $100K to $340K in two years using this system.</a:t>
            </a:r>
            <a:r>
              <a:rPr b="0" sz="4800">
                <a:solidFill>
                  <a:srgbClr val="2C5282"/>
                </a:solidFill>
                <a:latin typeface="Helvetica Neue"/>
              </a:rPr>
              <a:t>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Look at the pattern: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I used this system: $130K → $514K. While employed.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Simon used this system: $90K → $280K. While employed.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Darrell used this system: $100K → $340K. While employed. Twice.</a:t>
            </a:r>
          </a:p>
          <a:p>
            <a:pPr algn="ctr">
              <a:spcAft>
                <a:spcPts val="1200"/>
              </a:spcAft>
            </a:pPr>
            <a:r>
              <a:rPr b="1" sz="4800">
                <a:solidFill>
                  <a:srgbClr val="2C5282"/>
                </a:solidFill>
                <a:latin typeface="Helvetica Neue"/>
              </a:rPr>
              <a:t>Same system. Same time commitment. 30 minutes per day. Multiple people. Repeatable results.</a:t>
            </a:r>
            <a:r>
              <a:rPr b="0" sz="4800">
                <a:solidFill>
                  <a:srgbClr val="2C5282"/>
                </a:solidFill>
                <a:latin typeface="Helvetica Neue"/>
              </a:rPr>
              <a:t>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Why does this system work so fast?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Because you're not competing with 2,000 applicants.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You're gaining mindshare with hiring managers before the job is even posted.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You're positioning yourself as a solution to their problem.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You're becoming a CANDIDATE they recruit, not an APPLICANT they filter.</a:t>
            </a:r>
          </a:p>
          <a:p>
            <a:pPr algn="ctr">
              <a:spcAft>
                <a:spcPts val="1200"/>
              </a:spcAft>
            </a:pPr>
            <a:r>
              <a:rPr b="1" sz="4800">
                <a:solidFill>
                  <a:srgbClr val="2C5282"/>
                </a:solidFill>
                <a:latin typeface="Helvetica Neue"/>
              </a:rPr>
              <a:t>That's why you can get results in weeks instead of months or years.</a:t>
            </a:r>
            <a:r>
              <a:rPr b="0" sz="4800">
                <a:solidFill>
                  <a:srgbClr val="2C5282"/>
                </a:solidFill>
                <a:latin typeface="Helvetica Neue"/>
              </a:rPr>
              <a:t>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So here's what I want you to take away from Secret #3: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You DON'T need months to network.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You DON'T need to quit your job to search full-time.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You DON'T need 8 hours a day."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**You need 30 minutes per day.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You need the right system.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And you need to position yourself strategically.**"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Do that, and you can increase your annual income by $75K-$125K in 90 days or less.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While still employed. With limited time. Using a proven, repeatable system."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So now you know the three secrets:</a:t>
            </a:r>
          </a:p>
          <a:p>
            <a:pPr algn="ctr">
              <a:spcAft>
                <a:spcPts val="1200"/>
              </a:spcAft>
            </a:pPr>
            <a:r>
              <a:rPr b="1" sz="5600">
                <a:solidFill>
                  <a:srgbClr val="1A365D"/>
                </a:solidFill>
                <a:latin typeface="Helvetica Neue"/>
              </a:rPr>
              <a:t>Secret #1:</a:t>
            </a:r>
            <a:r>
              <a:rPr b="0" sz="4800">
                <a:solidFill>
                  <a:srgbClr val="2C5282"/>
                </a:solidFill>
                <a:latin typeface="Helvetica Neue"/>
              </a:rPr>
              <a:t> Positioning beats performance. Your income is determined by your market positioning.</a:t>
            </a:r>
          </a:p>
          <a:p>
            <a:pPr algn="ctr">
              <a:spcAft>
                <a:spcPts val="1200"/>
              </a:spcAft>
            </a:pPr>
            <a:r>
              <a:rPr b="1" sz="5600">
                <a:solidFill>
                  <a:srgbClr val="1A365D"/>
                </a:solidFill>
                <a:latin typeface="Helvetica Neue"/>
              </a:rPr>
              <a:t>Secret #2:</a:t>
            </a:r>
            <a:r>
              <a:rPr b="0" sz="4800">
                <a:solidFill>
                  <a:srgbClr val="2C5282"/>
                </a:solidFill>
                <a:latin typeface="Helvetica Neue"/>
              </a:rPr>
              <a:t> You're already qualified. You just need to position what you have correctly.</a:t>
            </a:r>
          </a:p>
          <a:p>
            <a:pPr algn="ctr">
              <a:spcAft>
                <a:spcPts val="1200"/>
              </a:spcAft>
            </a:pPr>
            <a:r>
              <a:rPr b="1" sz="5600">
                <a:solidFill>
                  <a:srgbClr val="1A365D"/>
                </a:solidFill>
                <a:latin typeface="Helvetica Neue"/>
              </a:rPr>
              <a:t>Secret #3:</a:t>
            </a:r>
            <a:r>
              <a:rPr b="0" sz="4800">
                <a:solidFill>
                  <a:srgbClr val="2C5282"/>
                </a:solidFill>
                <a:latin typeface="Helvetica Neue"/>
              </a:rPr>
              <a:t> You can do this in 30 minutes per day while still employed using the P.R.I.N.T system.</a:t>
            </a:r>
          </a:p>
          <a:p>
            <a:pPr algn="ctr">
              <a:spcAft>
                <a:spcPts val="1200"/>
              </a:spcAft>
            </a:pPr>
            <a:r>
              <a:rPr b="1" sz="4800">
                <a:solidFill>
                  <a:srgbClr val="2C5282"/>
                </a:solidFill>
                <a:latin typeface="Helvetica Neue"/>
              </a:rPr>
              <a:t>Once you accept these three beliefs, increasing your income by $75K-$125K becomes inevitable.</a:t>
            </a:r>
            <a:r>
              <a:rPr b="0" sz="4800">
                <a:solidFill>
                  <a:srgbClr val="2C5282"/>
                </a:solidFill>
                <a:latin typeface="Helvetica Neue"/>
              </a:rPr>
              <a:t>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So the question now isn't WHETHER this works.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The question is: How do you actually DO this?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How do you implement the P.R.I.N.T system?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How do you position yourself to increase your income by $75K-$125K in 90 days or less?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That's what I want to show you next..."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## TIER 1 FUTURE PACING: Pre-Stack Vision (Slides 101-104)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Before I show you how this works, let me paint you a picture of where you'll be one year from today if you commit to mastering strategic positioning.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One year from now, you're not at the same company making the same money feeling the same frustration.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You're at a company that values you. You're making $75,000-$125,000 more per year.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But here's what nobody tells you about that raise—it's not just about the money.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It's about having positioned yourself in a market where that income is NORMAL, not exceptional."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It's Friday at 4:45 PM.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Your coworkers are still online—they'll be grinding until 7 PM.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But you're shutting down your laptop.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Because at this company, they don't measure your value by how many hours you work. They measure your value by the results you drive.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You actually GET to have dinner with your family. On a weekday.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You're not stressed. You're not burned out. You're not wondering if there's something better out there.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Because you KNOW you're in the right place."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But here's the best part: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You're not worried about job security anymore.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Because you now have a skill that nobody can take away from you.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You know how to position yourself strategically. You know how to get recruited. You know how to interview. You know how to negotiate.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If you ever wanted to leave, you could have three offers in 60 days.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That confidence—that knowing you're ALWAYS in control of your career—changes everything.</a:t>
            </a:r>
          </a:p>
          <a:p>
            <a:pPr algn="ctr">
              <a:spcAft>
                <a:spcPts val="1200"/>
              </a:spcAft>
            </a:pPr>
            <a:r>
              <a:rPr b="1" sz="4800">
                <a:solidFill>
                  <a:srgbClr val="2C5282"/>
                </a:solidFill>
                <a:latin typeface="Helvetica Neue"/>
              </a:rPr>
              <a:t>That's what mastering positioning gives you. That's the real value.</a:t>
            </a:r>
            <a:r>
              <a:rPr b="0" sz="4800">
                <a:solidFill>
                  <a:srgbClr val="2C5282"/>
                </a:solidFill>
                <a:latin typeface="Helvetica Neue"/>
              </a:rPr>
              <a:t>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So the question is: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Do you want to still be where you are now, one year from today?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Or do you want to be THERE—in that life, with that income, with that confidence?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If the answer is the second one, here's what we've created..."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## SECTION: THE STACK &amp; OFFER (Slides 105-154)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We've taken everything I've learned—everything that took me from $130K to over $1M in compensation...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Everything Simon used to 3x his income...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Everything Darrell used to get $170K in raises...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And we've packaged it into a complete system called </a:t>
            </a:r>
            <a:r>
              <a:rPr b="1" sz="5600">
                <a:solidFill>
                  <a:srgbClr val="1A365D"/>
                </a:solidFill>
                <a:latin typeface="Helvetica Neue"/>
              </a:rPr>
              <a:t>The Active Offer System</a:t>
            </a:r>
            <a:r>
              <a:rPr b="0" sz="4800">
                <a:solidFill>
                  <a:srgbClr val="2C5282"/>
                </a:solidFill>
                <a:latin typeface="Helvetica Neue"/>
              </a:rPr>
              <a:t>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Here's what's included when you join The Active Offer System..."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1" sz="5600">
                <a:solidFill>
                  <a:srgbClr val="1A365D"/>
                </a:solidFill>
                <a:latin typeface="Helvetica Neue"/>
              </a:rPr>
              <a:t>Component #1: Profile Matching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This is where we help you identify which companies are your 'better boats.'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Not random companies. Not spray-and-pray.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We use our network, industry insights, and market data to identify the 5-10 companies that will pay you $300K+ for your specific skillset.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If you tried to research this yourself, it would take months and you'd likely target the wrong companies.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We do this for you in week one.</a:t>
            </a:r>
          </a:p>
          <a:p>
            <a:pPr algn="ctr">
              <a:spcAft>
                <a:spcPts val="1200"/>
              </a:spcAft>
            </a:pPr>
            <a:r>
              <a:rPr b="1" sz="5600">
                <a:solidFill>
                  <a:srgbClr val="1A365D"/>
                </a:solidFill>
                <a:latin typeface="Helvetica Neue"/>
              </a:rPr>
              <a:t>Value if purchased separately: $5,000</a:t>
            </a:r>
            <a:r>
              <a:rPr b="0" sz="5600">
                <a:solidFill>
                  <a:srgbClr val="1A365D"/>
                </a:solidFill>
                <a:latin typeface="Helvetica Neue"/>
              </a:rPr>
              <a:t>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1" sz="7200">
                <a:solidFill>
                  <a:srgbClr val="1A365D"/>
                </a:solidFill>
                <a:latin typeface="Helvetica Neue"/>
              </a:rPr>
              <a:t>Component #2: The Reverse Attraction System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This is the exact 30-minutes-per-day system I used to get interviews at Google, Amazon, and Salesforce in one week.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You'll get: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 The exact scripts that land interviews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- The messaging templates that gain mindshare with hiring managers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- The step-by-step process to implement while still employed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This is the system that creates the "companies recruiting you" transformation.</a:t>
            </a:r>
          </a:p>
          <a:p>
            <a:pPr algn="ctr">
              <a:spcAft>
                <a:spcPts val="1200"/>
              </a:spcAft>
            </a:pPr>
            <a:r>
              <a:rPr b="1" sz="5600">
                <a:solidFill>
                  <a:srgbClr val="1A365D"/>
                </a:solidFill>
                <a:latin typeface="Helvetica Neue"/>
              </a:rPr>
              <a:t>Value if purchased separately: $7,500</a:t>
            </a:r>
            <a:r>
              <a:rPr b="0" sz="5600">
                <a:solidFill>
                  <a:srgbClr val="1A365D"/>
                </a:solidFill>
                <a:latin typeface="Helvetica Neue"/>
              </a:rPr>
              <a:t>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1" sz="5600">
                <a:solidFill>
                  <a:srgbClr val="1A365D"/>
                </a:solidFill>
                <a:latin typeface="Helvetica Neue"/>
              </a:rPr>
              <a:t>Component #3: Interview Mastery Training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Remember my story about bombing the first Salesforce interview and then crushing the second?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This is how I did it.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You'll get: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 The exact interview preparation framework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- Company-specific interview assets (30-60-90 day plans, presentation templates)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- The questions top companies ask and how to position your answers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- Real interview examples from Google, Amazon, Salesforce, and more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This is what transforms you from someone who GETS interviews to someone who WINS them.</a:t>
            </a:r>
          </a:p>
          <a:p>
            <a:pPr algn="ctr">
              <a:spcAft>
                <a:spcPts val="1200"/>
              </a:spcAft>
            </a:pPr>
            <a:r>
              <a:rPr b="1" sz="5600">
                <a:solidFill>
                  <a:srgbClr val="1A365D"/>
                </a:solidFill>
                <a:latin typeface="Helvetica Neue"/>
              </a:rPr>
              <a:t>Value if purchased separately: $8,000</a:t>
            </a:r>
            <a:r>
              <a:rPr b="0" sz="5600">
                <a:solidFill>
                  <a:srgbClr val="1A365D"/>
                </a:solidFill>
                <a:latin typeface="Helvetica Neue"/>
              </a:rPr>
              <a:t>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1" sz="5600">
                <a:solidFill>
                  <a:srgbClr val="1A365D"/>
                </a:solidFill>
                <a:latin typeface="Helvetica Neue"/>
              </a:rPr>
              <a:t>Component #4: Negotiation Mastery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This is how Darrell got a $90K raise on his first offer.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This is how Simon negotiated from $90K to $280K.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You'll learn: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 How to create leverage using multiple offers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- The exact negotiation frameworks that get $75K-$125K raises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- What to say, when to say it, and how to position your value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- Real compensation negotiation support when you get your offers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Most people leave $50K-$100K on the table because they don't know how to negotiate from a position of strength.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This component alone could be worth 10x your investment.</a:t>
            </a:r>
          </a:p>
          <a:p>
            <a:pPr algn="ctr">
              <a:spcAft>
                <a:spcPts val="1200"/>
              </a:spcAft>
            </a:pPr>
            <a:r>
              <a:rPr b="1" sz="5600">
                <a:solidFill>
                  <a:srgbClr val="1A365D"/>
                </a:solidFill>
                <a:latin typeface="Helvetica Neue"/>
              </a:rPr>
              <a:t>Value if purchased separately: $10,000</a:t>
            </a:r>
            <a:r>
              <a:rPr b="0" sz="5600">
                <a:solidFill>
                  <a:srgbClr val="1A365D"/>
                </a:solidFill>
                <a:latin typeface="Helvetica Neue"/>
              </a:rPr>
              <a:t>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1" sz="4800">
                <a:solidFill>
                  <a:srgbClr val="2C5282"/>
                </a:solidFill>
                <a:latin typeface="Helvetica Neue"/>
              </a:rPr>
              <a:t>Component #5: Live Group Coaching Calls (Twice Per Week)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You'll have access to me and our team twice per week for live coaching.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Bring your questions. Get feedback on your positioning. Workshop your interview prep. Get real-time support.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This isn't pre-recorded content you watch alone.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This is live, ongoing support as you implement the system.</a:t>
            </a:r>
          </a:p>
          <a:p>
            <a:pPr algn="ctr">
              <a:spcAft>
                <a:spcPts val="1200"/>
              </a:spcAft>
            </a:pPr>
            <a:r>
              <a:rPr b="1" sz="4800">
                <a:solidFill>
                  <a:srgbClr val="2C5282"/>
                </a:solidFill>
                <a:latin typeface="Helvetica Neue"/>
              </a:rPr>
              <a:t>Value for 90 days if purchased separately: $12,000</a:t>
            </a:r>
            <a:r>
              <a:rPr b="0" sz="4800">
                <a:solidFill>
                  <a:srgbClr val="2C5282"/>
                </a:solidFill>
                <a:latin typeface="Helvetica Neue"/>
              </a:rPr>
              <a:t>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1" sz="5600">
                <a:solidFill>
                  <a:srgbClr val="1A365D"/>
                </a:solidFill>
                <a:latin typeface="Helvetica Neue"/>
              </a:rPr>
              <a:t>Component #6: Private Community Access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You'll join a community of ambitious sales professionals all mastering positioning together.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Network with people who are going through the same transformation.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Get referrals. Share wins. Learn from each other's experiences.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Many of our members have connected and referred each other into roles at top companies.</a:t>
            </a:r>
          </a:p>
          <a:p>
            <a:pPr algn="ctr">
              <a:spcAft>
                <a:spcPts val="1200"/>
              </a:spcAft>
            </a:pPr>
            <a:r>
              <a:rPr b="1" sz="5600">
                <a:solidFill>
                  <a:srgbClr val="1A365D"/>
                </a:solidFill>
                <a:latin typeface="Helvetica Neue"/>
              </a:rPr>
              <a:t>Value if purchased separately: $3,000</a:t>
            </a:r>
            <a:r>
              <a:rPr b="0" sz="5600">
                <a:solidFill>
                  <a:srgbClr val="1A365D"/>
                </a:solidFill>
                <a:latin typeface="Helvetica Neue"/>
              </a:rPr>
              <a:t>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1" sz="5600">
                <a:solidFill>
                  <a:srgbClr val="1A365D"/>
                </a:solidFill>
                <a:latin typeface="Helvetica Neue"/>
              </a:rPr>
              <a:t>Component #7: Complete Resource Library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You'll get every template, script, and asset we've ever created:"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- Resume templates optimized for ATS and tech sales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- LinkedIn profile audit checklist and optimization templates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- Cold email and LinkedIn message vault (200+ tested messages)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- Interview question database for top companies (Google, Amazon, Salesforce, etc.)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- 30-60-90 day plan templates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 Presentation templates for interviews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 Self-accountability tracking system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Everything you need to implement the P.R.I.N.T system."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1" sz="5600">
                <a:solidFill>
                  <a:srgbClr val="1A365D"/>
                </a:solidFill>
                <a:latin typeface="Helvetica Neue"/>
              </a:rPr>
              <a:t>Value if purchased separately: $5,000</a:t>
            </a:r>
            <a:r>
              <a:rPr b="0" sz="5600">
                <a:solidFill>
                  <a:srgbClr val="1A365D"/>
                </a:solidFill>
                <a:latin typeface="Helvetica Neue"/>
              </a:rPr>
              <a:t>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So let's add this up: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Profile Matching: $5,000</a:t>
            </a:r>
          </a:p>
          <a:p>
            <a:pPr algn="ctr">
              <a:spcAft>
                <a:spcPts val="1200"/>
              </a:spcAft>
            </a:pPr>
            <a:r>
              <a:rPr b="1" sz="6400">
                <a:solidFill>
                  <a:srgbClr val="1A365D"/>
                </a:solidFill>
                <a:latin typeface="Helvetica Neue"/>
              </a:rPr>
              <a:t>Reverse Attraction System: $7,500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Interview Mastery Training: $8,000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Negotiation Mastery: $10,000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Live Group Coaching (90 days): $12,000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Private Community Access: $3,000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Complete Resource Library: $5,000</a:t>
            </a:r>
          </a:p>
          <a:p>
            <a:pPr algn="ctr">
              <a:spcAft>
                <a:spcPts val="1200"/>
              </a:spcAft>
            </a:pPr>
            <a:r>
              <a:rPr b="1" sz="5600">
                <a:solidFill>
                  <a:srgbClr val="1A365D"/>
                </a:solidFill>
                <a:latin typeface="Helvetica Neue"/>
              </a:rPr>
              <a:t>Total value if purchased separately: $50,500</a:t>
            </a:r>
            <a:r>
              <a:rPr b="0" sz="5600">
                <a:solidFill>
                  <a:srgbClr val="1A365D"/>
                </a:solidFill>
                <a:latin typeface="Helvetica Neue"/>
              </a:rPr>
              <a:t>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Now, if I wanted to, I could charge $50,000 for this program.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And honestly? If it increases your income by just $100K, you'd make your money back in the first year.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But I'm not going to charge you $50,000.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I'm not even going to charge you $25,000.</a:t>
            </a:r>
          </a:p>
          <a:p>
            <a:pPr algn="ctr">
              <a:spcAft>
                <a:spcPts val="1200"/>
              </a:spcAft>
            </a:pPr>
            <a:r>
              <a:rPr b="1" sz="4800">
                <a:solidFill>
                  <a:srgbClr val="2C5282"/>
                </a:solidFill>
                <a:latin typeface="Helvetica Neue"/>
              </a:rPr>
              <a:t>Your investment to join The Active Offer System is $5,000.</a:t>
            </a:r>
            <a:r>
              <a:rPr b="0" sz="4800">
                <a:solidFill>
                  <a:srgbClr val="2C5282"/>
                </a:solidFill>
                <a:latin typeface="Helvetica Neue"/>
              </a:rPr>
              <a:t>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And if $5,000 all at once feels like too much, we have payment plans available.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You can split it into monthly payments.</a:t>
            </a:r>
          </a:p>
          <a:p>
            <a:pPr algn="ctr">
              <a:spcAft>
                <a:spcPts val="1200"/>
              </a:spcAft>
            </a:pPr>
            <a:r>
              <a:rPr b="1" sz="4800">
                <a:solidFill>
                  <a:srgbClr val="2C5282"/>
                </a:solidFill>
                <a:latin typeface="Helvetica Neue"/>
              </a:rPr>
              <a:t>That's less than $200 per week to master the skill that will control your income for the rest of your career.</a:t>
            </a:r>
            <a:r>
              <a:rPr b="0" sz="4800">
                <a:solidFill>
                  <a:srgbClr val="2C5282"/>
                </a:solidFill>
                <a:latin typeface="Helvetica Neue"/>
              </a:rPr>
              <a:t>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Let's talk about ROI for a second: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If you're making $150K now, and this gets you a $100K raise (within the $75K-$125K range our students achieve), that's $250K total compensation.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Over the next 5 years, that's $500,000 in additional income.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Over your career? $2-3 million more.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Your investment today is $5,000.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That's a 20x return in year one. 100x return over five years.</a:t>
            </a:r>
          </a:p>
          <a:p>
            <a:pPr algn="ctr">
              <a:spcAft>
                <a:spcPts val="1200"/>
              </a:spcAft>
            </a:pPr>
            <a:r>
              <a:rPr b="1" sz="4800">
                <a:solidFill>
                  <a:srgbClr val="2C5282"/>
                </a:solidFill>
                <a:latin typeface="Helvetica Neue"/>
              </a:rPr>
              <a:t>This isn't an expense. This is the highest-ROI investment you'll ever make.</a:t>
            </a:r>
            <a:r>
              <a:rPr b="0" sz="4800">
                <a:solidFill>
                  <a:srgbClr val="2C5282"/>
                </a:solidFill>
                <a:latin typeface="Helvetica Neue"/>
              </a:rPr>
              <a:t>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Now let's look at the cost of doing NOTHING:</a:t>
            </a:r>
          </a:p>
          <a:p>
            <a:pPr algn="ctr">
              <a:spcAft>
                <a:spcPts val="1200"/>
              </a:spcAft>
            </a:pPr>
            <a:r>
              <a:rPr b="0" sz="4200">
                <a:solidFill>
                  <a:srgbClr val="2D3748"/>
                </a:solidFill>
                <a:latin typeface="Helvetica Neue"/>
              </a:rPr>
              <a:t>If you stay at $150K for the next 5 years while your peers who master positioning move to $250K+ roles (a $100K increase within our typical $75K-$125K range)...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You've lost $500,000.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Not making a decision IS a decision.</a:t>
            </a:r>
          </a:p>
          <a:p>
            <a:pPr algn="ctr">
              <a:spcAft>
                <a:spcPts val="1200"/>
              </a:spcAft>
            </a:pPr>
            <a:r>
              <a:rPr b="1" sz="4800">
                <a:solidFill>
                  <a:srgbClr val="2C5282"/>
                </a:solidFill>
                <a:latin typeface="Helvetica Neue"/>
              </a:rPr>
              <a:t>The question isn't 'Can I afford this?' The question is 'Can I afford NOT to do this?'</a:t>
            </a:r>
            <a:r>
              <a:rPr b="0" sz="4800">
                <a:solidFill>
                  <a:srgbClr val="2C5282"/>
                </a:solidFill>
                <a:latin typeface="Helvetica Neue"/>
              </a:rPr>
              <a:t>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And here's the thing: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You're not taking any risk.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If you join The Active Offer System, implement the strategies, show up to the coaching calls, and don't see results...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I'll personally work with you until you do.</a:t>
            </a:r>
          </a:p>
          <a:p>
            <a:pPr algn="ctr">
              <a:spcAft>
                <a:spcPts val="1200"/>
              </a:spcAft>
            </a:pPr>
            <a:r>
              <a:rPr b="1" sz="4800">
                <a:solidFill>
                  <a:srgbClr val="2C5282"/>
                </a:solidFill>
                <a:latin typeface="Helvetica Neue"/>
              </a:rPr>
              <a:t>You're either increasing your income by $75K-$125K, or you're getting more support until you are.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That's my commitment to you."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Now, let me be clear about who this program is for:</a:t>
            </a:r>
          </a:p>
          <a:p>
            <a:pPr algn="ctr">
              <a:spcAft>
                <a:spcPts val="1200"/>
              </a:spcAft>
            </a:pPr>
            <a:r>
              <a:rPr b="0" sz="4200">
                <a:solidFill>
                  <a:srgbClr val="2D3748"/>
                </a:solidFill>
                <a:latin typeface="Helvetica Neue"/>
              </a:rPr>
              <a:t>This is for experienced sales professionals who are currently making $80K+ and want to increase their income by $75K-$125K by positioning themselves for $250K-$400K+ roles at top companies.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This is for people who have at least 4 years of sales experience and are in B2B sales.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This is for people who are willing to invest 30 minutes per day for 90 days to transform their career.</a:t>
            </a:r>
          </a:p>
          <a:p>
            <a:pPr algn="ctr">
              <a:spcAft>
                <a:spcPts val="1200"/>
              </a:spcAft>
            </a:pPr>
            <a:r>
              <a:rPr b="1" sz="4800">
                <a:solidFill>
                  <a:srgbClr val="2C5282"/>
                </a:solidFill>
                <a:latin typeface="Helvetica Neue"/>
              </a:rPr>
              <a:t>This is for people who are ready to stop working harder and start positioning smarter.</a:t>
            </a:r>
            <a:r>
              <a:rPr b="0" sz="4800">
                <a:solidFill>
                  <a:srgbClr val="2C5282"/>
                </a:solidFill>
                <a:latin typeface="Helvetica Neue"/>
              </a:rPr>
              <a:t>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This is NOT for people just starting in sales.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This is NOT for people making under $80K who don't have the experience to position for $250K-$400K+ roles yet.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This is NOT for people who want a magic button that requires no work.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This is NOT for people who aren't willing to invest 30 minutes per day.</a:t>
            </a:r>
          </a:p>
          <a:p>
            <a:pPr algn="ctr">
              <a:spcAft>
                <a:spcPts val="1200"/>
              </a:spcAft>
            </a:pPr>
            <a:r>
              <a:rPr b="1" sz="4800">
                <a:solidFill>
                  <a:srgbClr val="2C5282"/>
                </a:solidFill>
                <a:latin typeface="Helvetica Neue"/>
              </a:rPr>
              <a:t>If that's you, this program isn't the right fit right now.</a:t>
            </a:r>
            <a:r>
              <a:rPr b="0" sz="4800">
                <a:solidFill>
                  <a:srgbClr val="2C5282"/>
                </a:solidFill>
                <a:latin typeface="Helvetica Neue"/>
              </a:rPr>
              <a:t>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So here's how this works: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This isn't a 'buy now' button.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Because I only want to work with people who are the right fit, and I want to make sure YOU feel good about this decision too.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So the next step is to book a free strategy call.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On that call, we're going to: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- Map out your ideal role (compensation, company, lifestyle)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 Identify the positioning gaps keeping you stuck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- Show you the roadmap to your $75K-$125K income increase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- Determine if The Active Offer System is the right fit</a:t>
            </a:r>
          </a:p>
          <a:p>
            <a:pPr algn="ctr">
              <a:spcAft>
                <a:spcPts val="1200"/>
              </a:spcAft>
            </a:pPr>
            <a:r>
              <a:rPr b="1" sz="4800">
                <a:solidFill>
                  <a:srgbClr val="2C5282"/>
                </a:solidFill>
                <a:latin typeface="Helvetica Neue"/>
              </a:rPr>
              <a:t>If it's a great fit for both of us, we'll invite you to join. If not, you'll still walk away with a clear action plan.</a:t>
            </a:r>
            <a:r>
              <a:rPr b="0" sz="4800">
                <a:solidFill>
                  <a:srgbClr val="2C5282"/>
                </a:solidFill>
                <a:latin typeface="Helvetica Neue"/>
              </a:rPr>
              <a:t>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The strategy call is simple: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We'll spend 45 minutes mapping out your situation.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You'll tell me where you are, where you want to be, and what's been holding you back.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I'll show you exactly how someone in your situation can use strategic positioning to increase their income by $75K-$125K.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You'll walk away with clarity on your next steps—whether you join The Active Offer System or not.</a:t>
            </a:r>
          </a:p>
          <a:p>
            <a:pPr algn="ctr">
              <a:spcAft>
                <a:spcPts val="1200"/>
              </a:spcAft>
            </a:pPr>
            <a:r>
              <a:rPr b="1" sz="4800">
                <a:solidFill>
                  <a:srgbClr val="2C5282"/>
                </a:solidFill>
                <a:latin typeface="Helvetica Neue"/>
              </a:rPr>
              <a:t>No pressure. No manipulation. Just clarity on how positioning can transform your career.</a:t>
            </a:r>
            <a:r>
              <a:rPr b="0" sz="4800">
                <a:solidFill>
                  <a:srgbClr val="2C5282"/>
                </a:solidFill>
                <a:latin typeface="Helvetica Neue"/>
              </a:rPr>
              <a:t>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Now, I need to be transparent with you: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I can only work with a limited number of people at a time.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Between the live coaching calls twice per week and the personal support we provide, I can only take on 15 new members per month.</a:t>
            </a:r>
          </a:p>
          <a:p>
            <a:pPr algn="ctr">
              <a:spcAft>
                <a:spcPts val="1200"/>
              </a:spcAft>
            </a:pPr>
            <a:r>
              <a:rPr b="1" sz="4800">
                <a:solidFill>
                  <a:srgbClr val="2C5282"/>
                </a:solidFill>
                <a:latin typeface="Helvetica Neue"/>
              </a:rPr>
              <a:t>That means there are only a limited number of strategy call slots available.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If you're serious about increasing your income by $75K-$125K in the next 90 days, you need to book your call today.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Spots fill up quickly, and if you wait, you might have to wait until next month."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And here's the other thing to consider: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Every month you wait is another month at your current income.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If you could be earning $10K more per month (a $120K annual increase, which is within our typical $75K-$125K range)...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That's $10,000 per month you're leaving on the table.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Waiting 3 months to decide costs you $30,000.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Waiting a year costs you $120,000.</a:t>
            </a:r>
          </a:p>
          <a:p>
            <a:pPr algn="ctr">
              <a:spcAft>
                <a:spcPts val="1200"/>
              </a:spcAft>
            </a:pPr>
            <a:r>
              <a:rPr b="1" sz="5600">
                <a:solidFill>
                  <a:srgbClr val="1A365D"/>
                </a:solidFill>
                <a:latin typeface="Helvetica Neue"/>
              </a:rPr>
              <a:t>How much is procrastination costing you?</a:t>
            </a:r>
            <a:r>
              <a:rPr b="0" sz="5600">
                <a:solidFill>
                  <a:srgbClr val="1A365D"/>
                </a:solidFill>
                <a:latin typeface="Helvetica Neue"/>
              </a:rPr>
              <a:t>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And 45 days after that call—if you decide to join us—you'll be sitting in your first interview with a company that's excited to meet you.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Not because you applied online and got lucky.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Because you positioned yourself strategically and they recruited you.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That's when you'll know this was the right decision.</a:t>
            </a:r>
          </a:p>
          <a:p>
            <a:pPr algn="ctr">
              <a:spcAft>
                <a:spcPts val="1200"/>
              </a:spcAft>
            </a:pPr>
            <a:r>
              <a:rPr b="1" sz="4800">
                <a:solidFill>
                  <a:srgbClr val="2C5282"/>
                </a:solidFill>
                <a:latin typeface="Helvetica Neue"/>
              </a:rPr>
              <a:t>That's when you'll see the Positioning Principle working in your life.</a:t>
            </a:r>
            <a:r>
              <a:rPr b="0" sz="4800">
                <a:solidFill>
                  <a:srgbClr val="2C5282"/>
                </a:solidFill>
                <a:latin typeface="Helvetica Neue"/>
              </a:rPr>
              <a:t>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Remember: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I did this. $130K to $514K.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Simon did this. $90K to $280K.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Darrell did this. $100K to $340K. Twice.</a:t>
            </a:r>
          </a:p>
          <a:p>
            <a:pPr algn="ctr">
              <a:spcAft>
                <a:spcPts val="1200"/>
              </a:spcAft>
            </a:pPr>
            <a:r>
              <a:rPr b="1" sz="4800">
                <a:solidFill>
                  <a:srgbClr val="2C5282"/>
                </a:solidFill>
                <a:latin typeface="Helvetica Neue"/>
              </a:rPr>
              <a:t>This system works. The only question is: Will you be next?</a:t>
            </a:r>
            <a:r>
              <a:rPr b="0" sz="4800">
                <a:solidFill>
                  <a:srgbClr val="2C5282"/>
                </a:solidFill>
                <a:latin typeface="Helvetica Neue"/>
              </a:rPr>
              <a:t>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So you have a choice to make right now:</a:t>
            </a:r>
          </a:p>
          <a:p>
            <a:pPr algn="ctr">
              <a:spcAft>
                <a:spcPts val="1200"/>
              </a:spcAft>
            </a:pPr>
            <a:r>
              <a:rPr b="1" sz="5600">
                <a:solidFill>
                  <a:srgbClr val="1A365D"/>
                </a:solidFill>
                <a:latin typeface="Helvetica Neue"/>
              </a:rPr>
              <a:t>Choice #1:</a:t>
            </a:r>
            <a:r>
              <a:rPr b="0" sz="4800">
                <a:solidFill>
                  <a:srgbClr val="2C5282"/>
                </a:solidFill>
                <a:latin typeface="Helvetica Neue"/>
              </a:rPr>
              <a:t> Close this webinar. Go back to your current situation. Keep doing what you've been doing. And hope things change on their own.</a:t>
            </a:r>
          </a:p>
          <a:p>
            <a:pPr algn="ctr">
              <a:spcAft>
                <a:spcPts val="1200"/>
              </a:spcAft>
            </a:pPr>
            <a:r>
              <a:rPr b="1" sz="5600">
                <a:solidFill>
                  <a:srgbClr val="1A365D"/>
                </a:solidFill>
                <a:latin typeface="Helvetica Neue"/>
              </a:rPr>
              <a:t>Choice #2:</a:t>
            </a:r>
            <a:r>
              <a:rPr b="0" sz="4200">
                <a:solidFill>
                  <a:srgbClr val="2D3748"/>
                </a:solidFill>
                <a:latin typeface="Helvetica Neue"/>
              </a:rPr>
              <a:t> Book a free strategy call. Get clarity on how positioning can increase your income by $75K-$125K. And if it's the right fit, join The Active Offer System and master the skill that will control your income for the rest of your life.</a:t>
            </a:r>
          </a:p>
          <a:p>
            <a:pPr algn="ctr">
              <a:spcAft>
                <a:spcPts val="1200"/>
              </a:spcAft>
            </a:pPr>
            <a:r>
              <a:rPr b="1" sz="5600">
                <a:solidFill>
                  <a:srgbClr val="1A365D"/>
                </a:solidFill>
                <a:latin typeface="Helvetica Neue"/>
              </a:rPr>
              <a:t>Which choice are you going to make?</a:t>
            </a:r>
            <a:r>
              <a:rPr b="0" sz="5600">
                <a:solidFill>
                  <a:srgbClr val="1A365D"/>
                </a:solidFill>
                <a:latin typeface="Helvetica Neue"/>
              </a:rPr>
              <a:t>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If you're ready to transform your career...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If you're ready to stop working harder and start positioning smarter...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If you're ready to increase your income by $75K-$125K instead of chasing applications that go nowhere...</a:t>
            </a:r>
          </a:p>
          <a:p>
            <a:pPr algn="ctr">
              <a:spcAft>
                <a:spcPts val="1200"/>
              </a:spcAft>
            </a:pPr>
            <a:r>
              <a:rPr b="1" sz="4800">
                <a:solidFill>
                  <a:srgbClr val="2C5282"/>
                </a:solidFill>
                <a:latin typeface="Helvetica Neue"/>
              </a:rPr>
              <a:t>Then click the button below and book your free strategy call right now.</a:t>
            </a:r>
            <a:r>
              <a:rPr b="0" sz="4800">
                <a:solidFill>
                  <a:srgbClr val="2C5282"/>
                </a:solidFill>
                <a:latin typeface="Helvetica Neue"/>
              </a:rPr>
              <a:t>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You'll pick a time that works for you—probably sometime in the next 7 days.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You'll hop on Zoom with me or someone from my team.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We'll map out your exact situation and show you the roadmap to your $75K-$125K income increase.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And if The Active Offer System is the right fit, we'll invite you to join.</a:t>
            </a:r>
          </a:p>
          <a:p>
            <a:pPr algn="ctr">
              <a:spcAft>
                <a:spcPts val="1200"/>
              </a:spcAft>
            </a:pPr>
            <a:r>
              <a:rPr b="1" sz="5600">
                <a:solidFill>
                  <a:srgbClr val="1A365D"/>
                </a:solidFill>
                <a:latin typeface="Helvetica Neue"/>
              </a:rPr>
              <a:t>It starts with clicking the button below.</a:t>
            </a:r>
            <a:r>
              <a:rPr b="0" sz="5600">
                <a:solidFill>
                  <a:srgbClr val="1A365D"/>
                </a:solidFill>
                <a:latin typeface="Helvetica Neue"/>
              </a:rPr>
              <a:t>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CLICK THE BUTTON BELOW, BOOK YOUR FREE POSITIONING ASSESSMENT, AND LET'S INCREASE YOUR INCOME BY $75K-$125K IN THE NEXT 90 DAYS"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[Three red arrows pointing down to CTA buttons]</a:t>
            </a:r>
          </a:p>
          <a:p>
            <a:pPr algn="ctr">
              <a:spcAft>
                <a:spcPts val="1200"/>
              </a:spcAft>
            </a:pPr>
            <a:r>
              <a:rPr b="1" sz="7200">
                <a:solidFill>
                  <a:srgbClr val="1A365D"/>
                </a:solidFill>
                <a:latin typeface="Helvetica Neue"/>
              </a:rPr>
              <a:t>[BUTTON: BOOK YOUR FREE STRATEGY CALL NOW]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## BACKUP/REINFORCEMENT SLIDES (Slides 132-154)</a:t>
            </a:r>
          </a:p>
          <a:p>
            <a:pPr algn="ctr">
              <a:spcAft>
                <a:spcPts val="1200"/>
              </a:spcAft>
            </a:pPr>
            <a:r>
              <a:rPr b="1" sz="4800">
                <a:solidFill>
                  <a:srgbClr val="2C5282"/>
                </a:solidFill>
                <a:latin typeface="Helvetica Neue"/>
              </a:rPr>
              <a:t>[Note: These are additional slides you can use if needed for Q&amp;A, objection handling, or extended close]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Objection: 'I don't have time for this right now.'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Answer: That's exactly why you NEED this system.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The P.R.I.N.T system takes 30 minutes per day. That's less time than you spend scrolling social media.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And once you master positioning, you'll save YEARS of career stagnation.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The question isn't 'Do you have time?' The question is 'Can you afford to waste more time staying where you are?'"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Objection: 'What if this doesn't work for me?'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Answer: Then you keep working with us until it does.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That's our guarantee. You're either getting results or getting more support.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Plus, this system has worked for people with different backgrounds, different industries, different starting points.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If you're an experienced B2B salesperson making $80K+, it will work for you too."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Objection: 'I need to think about it.'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Answer: I get it. This is a big decision.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But here's what I want you to think about: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Every month you wait is another month at your current income. That could be $8,000+ in lost potential earnings per month.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The strategy call is free. You risk nothing by booking it and getting clarity.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Thinking about it for weeks or months costs you tens of thousands of dollars in opportunity cost.</a:t>
            </a:r>
          </a:p>
          <a:p>
            <a:pPr algn="ctr">
              <a:spcAft>
                <a:spcPts val="1200"/>
              </a:spcAft>
            </a:pPr>
            <a:r>
              <a:rPr b="1" sz="5600">
                <a:solidFill>
                  <a:srgbClr val="1A365D"/>
                </a:solidFill>
                <a:latin typeface="Helvetica Neue"/>
              </a:rPr>
              <a:t>Book the call. Get clarity. THEN decide.</a:t>
            </a:r>
            <a:r>
              <a:rPr b="0" sz="5600">
                <a:solidFill>
                  <a:srgbClr val="1A365D"/>
                </a:solidFill>
                <a:latin typeface="Helvetica Neue"/>
              </a:rPr>
              <a:t>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Objection: 'I don't have the money right now.'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Answer: I understand. $5,000 is a real investment.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But here's the thing: if you could be earning $10,000+ more per month, you're losing that amount EVERY MONTH you stay where you are.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Three months from now, you'll have lost $30,000+ in opportunity cost—6x the investment in this program.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We have payment plans available to make this accessible.</a:t>
            </a:r>
          </a:p>
          <a:p>
            <a:pPr algn="ctr">
              <a:spcAft>
                <a:spcPts val="1200"/>
              </a:spcAft>
            </a:pPr>
            <a:r>
              <a:rPr b="0" sz="4200">
                <a:solidFill>
                  <a:srgbClr val="2D3748"/>
                </a:solidFill>
                <a:latin typeface="Helvetica Neue"/>
              </a:rPr>
              <a:t>And if you truly can't afford $5,000 right now, then you DEFINITELY can't afford to keep losing $10,000+ per month by staying in your current situation.</a:t>
            </a:r>
          </a:p>
          <a:p>
            <a:pPr algn="ctr">
              <a:spcAft>
                <a:spcPts val="1200"/>
              </a:spcAft>
            </a:pPr>
            <a:r>
              <a:rPr b="1" sz="4800">
                <a:solidFill>
                  <a:srgbClr val="2C5282"/>
                </a:solidFill>
                <a:latin typeface="Helvetica Neue"/>
              </a:rPr>
              <a:t>This program pays for itself with ONE positioning win.</a:t>
            </a:r>
            <a:r>
              <a:rPr b="0" sz="4800">
                <a:solidFill>
                  <a:srgbClr val="2C5282"/>
                </a:solidFill>
                <a:latin typeface="Helvetica Neue"/>
              </a:rPr>
              <a:t>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Question: 'How long until I see results?'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Answer: Most students get their first interviews within 30-45 days of starting the program.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Most students land offers within 90 days.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Darrell got his first $90K raise in a matter of weeks.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Simon got his $280K offer within weeks of implementing the system.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I got interviews at Google, Amazon, and Salesforce within ONE WEEK.</a:t>
            </a:r>
          </a:p>
          <a:p>
            <a:pPr algn="ctr">
              <a:spcAft>
                <a:spcPts val="1200"/>
              </a:spcAft>
            </a:pPr>
            <a:r>
              <a:rPr b="1" sz="4800">
                <a:solidFill>
                  <a:srgbClr val="2C5282"/>
                </a:solidFill>
                <a:latin typeface="Helvetica Neue"/>
              </a:rPr>
              <a:t>The system is designed to get you results fast—weeks, not months or years.</a:t>
            </a:r>
            <a:r>
              <a:rPr b="0" sz="4800">
                <a:solidFill>
                  <a:srgbClr val="2C5282"/>
                </a:solidFill>
                <a:latin typeface="Helvetica Neue"/>
              </a:rPr>
              <a:t>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Question: 'What if I don't live in San Francisco or New York?'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Answer: It doesn't matter.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Most of the roles we position people for are remote or hybrid.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Darrell wasn't in a tech hub. Simon wasn't in a tech hub.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The companies we target (Google, Amazon, Salesforce, etc.) hire nationally and globally.</a:t>
            </a:r>
          </a:p>
          <a:p>
            <a:pPr algn="ctr">
              <a:spcAft>
                <a:spcPts val="1200"/>
              </a:spcAft>
            </a:pPr>
            <a:r>
              <a:rPr b="1" sz="4800">
                <a:solidFill>
                  <a:srgbClr val="2C5282"/>
                </a:solidFill>
                <a:latin typeface="Helvetica Neue"/>
              </a:rPr>
              <a:t>Location is no longer a barrier. Positioning is what matters.</a:t>
            </a:r>
            <a:r>
              <a:rPr b="0" sz="4800">
                <a:solidFill>
                  <a:srgbClr val="2C5282"/>
                </a:solidFill>
                <a:latin typeface="Helvetica Neue"/>
              </a:rPr>
              <a:t>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Question: 'I'm not in software sales. Will this work for me?'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Answer: Yes, if you're in B2B sales.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The positioning principles work across industries.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We've helped people transition from telecom (like Darrell), from telesales (like Simon), from various industries into high-paying tech sales roles.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Your skills translate. You just need to position them correctly.</a:t>
            </a:r>
          </a:p>
          <a:p>
            <a:pPr algn="ctr">
              <a:spcAft>
                <a:spcPts val="1200"/>
              </a:spcAft>
            </a:pPr>
            <a:r>
              <a:rPr b="1" sz="5600">
                <a:solidFill>
                  <a:srgbClr val="1A365D"/>
                </a:solidFill>
                <a:latin typeface="Helvetica Neue"/>
              </a:rPr>
              <a:t>That's what we teach you to do.</a:t>
            </a:r>
            <a:r>
              <a:rPr b="0" sz="5600">
                <a:solidFill>
                  <a:srgbClr val="1A365D"/>
                </a:solidFill>
                <a:latin typeface="Helvetica Neue"/>
              </a:rPr>
              <a:t>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Question: 'What if I don't want to work at Google or Amazon?'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Answer: FAANG companies are examples, not requirements.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There are hundreds of companies that pay $250K-$400K+ for sales roles.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We help you identify the companies that fit YOUR goals—whether that's FAANG, high-growth startups, or established tech leaders.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The positioning principles work regardless of which specific companies you target.</a:t>
            </a:r>
          </a:p>
          <a:p>
            <a:pPr algn="ctr">
              <a:spcAft>
                <a:spcPts val="1200"/>
              </a:spcAft>
            </a:pPr>
            <a:r>
              <a:rPr b="1" sz="4800">
                <a:solidFill>
                  <a:srgbClr val="2C5282"/>
                </a:solidFill>
                <a:latin typeface="Helvetica Neue"/>
              </a:rPr>
              <a:t>We customize the strategy to YOUR career goals, not a one-size-fits-all approach.</a:t>
            </a:r>
            <a:r>
              <a:rPr b="0" sz="4800">
                <a:solidFill>
                  <a:srgbClr val="2C5282"/>
                </a:solidFill>
                <a:latin typeface="Helvetica Neue"/>
              </a:rPr>
              <a:t>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Remember the three secrets:</a:t>
            </a:r>
          </a:p>
          <a:p>
            <a:pPr algn="ctr">
              <a:spcAft>
                <a:spcPts val="1200"/>
              </a:spcAft>
            </a:pPr>
            <a:r>
              <a:rPr b="1" sz="5600">
                <a:solidFill>
                  <a:srgbClr val="1A365D"/>
                </a:solidFill>
                <a:latin typeface="Helvetica Neue"/>
              </a:rPr>
              <a:t>Secret #1:</a:t>
            </a:r>
            <a:r>
              <a:rPr b="0" sz="4800">
                <a:solidFill>
                  <a:srgbClr val="2C5282"/>
                </a:solidFill>
                <a:latin typeface="Helvetica Neue"/>
              </a:rPr>
              <a:t> Your income is determined by your positioning, not your performance. Get in the right boat.</a:t>
            </a:r>
          </a:p>
          <a:p>
            <a:pPr algn="ctr">
              <a:spcAft>
                <a:spcPts val="1200"/>
              </a:spcAft>
            </a:pPr>
            <a:r>
              <a:rPr b="1" sz="5600">
                <a:solidFill>
                  <a:srgbClr val="1A365D"/>
                </a:solidFill>
                <a:latin typeface="Helvetica Neue"/>
              </a:rPr>
              <a:t>Secret #2:</a:t>
            </a:r>
            <a:r>
              <a:rPr b="0" sz="4800">
                <a:solidFill>
                  <a:srgbClr val="2C5282"/>
                </a:solidFill>
                <a:latin typeface="Helvetica Neue"/>
              </a:rPr>
              <a:t> You're already qualified. You just need to position what you have correctly.</a:t>
            </a:r>
          </a:p>
          <a:p>
            <a:pPr algn="ctr">
              <a:spcAft>
                <a:spcPts val="1200"/>
              </a:spcAft>
            </a:pPr>
            <a:r>
              <a:rPr b="1" sz="5600">
                <a:solidFill>
                  <a:srgbClr val="1A365D"/>
                </a:solidFill>
                <a:latin typeface="Helvetica Neue"/>
              </a:rPr>
              <a:t>Secret #3:</a:t>
            </a:r>
            <a:r>
              <a:rPr b="0" sz="4800">
                <a:solidFill>
                  <a:srgbClr val="2C5282"/>
                </a:solidFill>
                <a:latin typeface="Helvetica Neue"/>
              </a:rPr>
              <a:t> You can do this in 30 minutes per day while still employed.</a:t>
            </a:r>
          </a:p>
          <a:p>
            <a:pPr algn="ctr">
              <a:spcAft>
                <a:spcPts val="1200"/>
              </a:spcAft>
            </a:pPr>
            <a:r>
              <a:rPr b="1" sz="4800">
                <a:solidFill>
                  <a:srgbClr val="2C5282"/>
                </a:solidFill>
                <a:latin typeface="Helvetica Neue"/>
              </a:rPr>
              <a:t>These three beliefs, once accepted, make increasing your income by $75K-$125K inevitable.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The Active Offer System teaches you how to implement all three."</a:t>
            </a:r>
          </a:p>
          <a:p>
            <a:pPr algn="ctr">
              <a:spcAft>
                <a:spcPts val="1200"/>
              </a:spcAft>
            </a:pPr>
            <a:r>
              <a:rPr b="1" sz="5600">
                <a:solidFill>
                  <a:srgbClr val="1A365D"/>
                </a:solidFill>
                <a:latin typeface="Helvetica Neue"/>
              </a:rPr>
              <a:t>[NOTE: Updated to match bold promise.]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The transformation you want is on the other side of this decision.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The $75K-$125K income increase.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The 40-hour work weeks instead of 60.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The dinner with your family instead of late nights at the office.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The financial freedom. The career control. The confidence.</a:t>
            </a:r>
          </a:p>
          <a:p>
            <a:pPr algn="ctr">
              <a:spcAft>
                <a:spcPts val="1200"/>
              </a:spcAft>
            </a:pPr>
            <a:r>
              <a:rPr b="1" sz="5600">
                <a:solidFill>
                  <a:srgbClr val="1A365D"/>
                </a:solidFill>
                <a:latin typeface="Helvetica Neue"/>
              </a:rPr>
              <a:t>It's all waiting for you.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But it only happens if you take action right now."</a:t>
            </a:r>
          </a:p>
          <a:p>
            <a:pPr algn="ctr">
              <a:spcAft>
                <a:spcPts val="1200"/>
              </a:spcAft>
            </a:pPr>
            <a:r>
              <a:rPr b="1" sz="5600">
                <a:solidFill>
                  <a:srgbClr val="1A365D"/>
                </a:solidFill>
                <a:latin typeface="Helvetica Neue"/>
              </a:rPr>
              <a:t>[NOTE: Updated to match bold promise.]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What are you waiting for?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Permission? You have it.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The 'right time'? It's now. Every month you wait costs you $8,000-$10,000+.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More confidence? Confidence comes from action, not thinking about action.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A sign? This webinar IS the sign.</a:t>
            </a:r>
          </a:p>
          <a:p>
            <a:pPr algn="ctr">
              <a:spcAft>
                <a:spcPts val="1200"/>
              </a:spcAft>
            </a:pPr>
            <a:r>
              <a:rPr b="1" sz="5600">
                <a:solidFill>
                  <a:srgbClr val="1A365D"/>
                </a:solidFill>
                <a:latin typeface="Helvetica Neue"/>
              </a:rPr>
              <a:t>Stop waiting. Start positioning. Book your call.</a:t>
            </a:r>
            <a:r>
              <a:rPr b="0" sz="4800">
                <a:solidFill>
                  <a:srgbClr val="2C5282"/>
                </a:solidFill>
                <a:latin typeface="Helvetica Neue"/>
              </a:rPr>
              <a:t>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This isn't an expense.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This isn't a cost.</a:t>
            </a:r>
          </a:p>
          <a:p>
            <a:pPr algn="ctr">
              <a:spcAft>
                <a:spcPts val="1200"/>
              </a:spcAft>
            </a:pPr>
            <a:r>
              <a:rPr b="1" sz="5600">
                <a:solidFill>
                  <a:srgbClr val="1A365D"/>
                </a:solidFill>
                <a:latin typeface="Helvetica Neue"/>
              </a:rPr>
              <a:t>This is an investment in yourself.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An investment in the skill that will control your income for the rest of your career.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An investment that will pay returns of 20x in year one. 100x over five years.</a:t>
            </a:r>
          </a:p>
          <a:p>
            <a:pPr algn="ctr">
              <a:spcAft>
                <a:spcPts val="1200"/>
              </a:spcAft>
            </a:pPr>
            <a:r>
              <a:rPr b="1" sz="5600">
                <a:solidFill>
                  <a:srgbClr val="1A365D"/>
                </a:solidFill>
                <a:latin typeface="Helvetica Neue"/>
              </a:rPr>
              <a:t>You ARE worth the investment.</a:t>
            </a:r>
            <a:r>
              <a:rPr b="0" sz="5600">
                <a:solidFill>
                  <a:srgbClr val="1A365D"/>
                </a:solidFill>
                <a:latin typeface="Helvetica Neue"/>
              </a:rPr>
              <a:t>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I believe you can do this.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I believe you're qualified.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I believe you have what it takes to increase your income by $75K-$125K.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The question is: Do YOU believe it?</a:t>
            </a:r>
          </a:p>
          <a:p>
            <a:pPr algn="ctr">
              <a:spcAft>
                <a:spcPts val="1200"/>
              </a:spcAft>
            </a:pPr>
            <a:r>
              <a:rPr b="1" sz="5600">
                <a:solidFill>
                  <a:srgbClr val="1A365D"/>
                </a:solidFill>
                <a:latin typeface="Helvetica Neue"/>
              </a:rPr>
              <a:t>Book the call. Let's prove it together.</a:t>
            </a:r>
            <a:r>
              <a:rPr b="0" sz="5600">
                <a:solidFill>
                  <a:srgbClr val="1A365D"/>
                </a:solidFill>
                <a:latin typeface="Helvetica Neue"/>
              </a:rPr>
              <a:t>"</a:t>
            </a:r>
          </a:p>
          <a:p>
            <a:pPr algn="ctr">
              <a:spcAft>
                <a:spcPts val="1200"/>
              </a:spcAft>
            </a:pPr>
            <a:r>
              <a:rPr b="1" sz="5600">
                <a:solidFill>
                  <a:srgbClr val="1A365D"/>
                </a:solidFill>
                <a:latin typeface="Helvetica Neue"/>
              </a:rPr>
              <a:t>[NOTE: Updated to match bold promise.]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This is your last chance to book a call before slots fill up.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Remember: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 Only 15 spots available this month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- Every month you wait costs you $8,000-$10,000+ in lost income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 The strategy call is free and risk-free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 You have nothing to lose and everything to gain</a:t>
            </a:r>
          </a:p>
          <a:p>
            <a:pPr algn="ctr">
              <a:spcAft>
                <a:spcPts val="1200"/>
              </a:spcAft>
            </a:pPr>
            <a:r>
              <a:rPr b="1" sz="5600">
                <a:solidFill>
                  <a:srgbClr val="1A365D"/>
                </a:solidFill>
                <a:latin typeface="Helvetica Neue"/>
              </a:rPr>
              <a:t>Don't let procrastination cost you $100,000+.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Click the button now."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One year from now, you'll look back at this moment.</a:t>
            </a:r>
          </a:p>
          <a:p>
            <a:pPr algn="ctr">
              <a:spcAft>
                <a:spcPts val="1200"/>
              </a:spcAft>
            </a:pPr>
            <a:r>
              <a:rPr b="0" sz="4200">
                <a:solidFill>
                  <a:srgbClr val="2D3748"/>
                </a:solidFill>
                <a:latin typeface="Helvetica Neue"/>
              </a:rPr>
              <a:t>In one future, you'll think: 'I wish I'd taken action. I've wasted another year at $150K when I could have been at $250K+. That's $100,000+ I'll never get back.'</a:t>
            </a:r>
          </a:p>
          <a:p>
            <a:pPr algn="ctr">
              <a:spcAft>
                <a:spcPts val="1200"/>
              </a:spcAft>
            </a:pPr>
            <a:r>
              <a:rPr b="0" sz="4200">
                <a:solidFill>
                  <a:srgbClr val="2D3748"/>
                </a:solidFill>
                <a:latin typeface="Helvetica Neue"/>
              </a:rPr>
              <a:t>In the other future, you'll think: 'That was the best decision I ever made. I'm making $250K+. My life is completely different. I'm so glad I didn't let fear or procrastination hold me back.'</a:t>
            </a:r>
          </a:p>
          <a:p>
            <a:pPr algn="ctr">
              <a:spcAft>
                <a:spcPts val="1200"/>
              </a:spcAft>
            </a:pPr>
            <a:r>
              <a:rPr b="1" sz="5600">
                <a:solidFill>
                  <a:srgbClr val="1A365D"/>
                </a:solidFill>
                <a:latin typeface="Helvetica Neue"/>
              </a:rPr>
              <a:t>Which future do you want?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The choice is yours. But you have to choose NOW."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All of this—the entire transformation—starts with one simple step: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Click the button below.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That's it. One click.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Book the call. Get clarity. Transform your career.</a:t>
            </a:r>
          </a:p>
          <a:p>
            <a:pPr algn="ctr">
              <a:spcAft>
                <a:spcPts val="1200"/>
              </a:spcAft>
            </a:pPr>
            <a:r>
              <a:rPr b="1" sz="5600">
                <a:solidFill>
                  <a:srgbClr val="1A365D"/>
                </a:solidFill>
                <a:latin typeface="Helvetica Neue"/>
              </a:rPr>
              <a:t>It's that simple.</a:t>
            </a:r>
            <a:r>
              <a:rPr b="0" sz="5600">
                <a:solidFill>
                  <a:srgbClr val="1A365D"/>
                </a:solidFill>
                <a:latin typeface="Helvetica Neue"/>
              </a:rPr>
              <a:t>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[CTA Button: BOOK YOUR FREE STRATEGY CALL]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1" sz="6400">
                <a:solidFill>
                  <a:srgbClr val="1A365D"/>
                </a:solidFill>
                <a:latin typeface="Helvetica Neue"/>
              </a:rPr>
              <a:t>STOP WAITING. START POSITIONING.</a:t>
            </a:r>
          </a:p>
          <a:p>
            <a:pPr algn="ctr">
              <a:spcAft>
                <a:spcPts val="1200"/>
              </a:spcAft>
            </a:pPr>
            <a:r>
              <a:rPr b="1" sz="6400">
                <a:solidFill>
                  <a:srgbClr val="1A365D"/>
                </a:solidFill>
                <a:latin typeface="Helvetica Neue"/>
              </a:rPr>
              <a:t>BOOK YOUR FREE STRATEGY CALL RIGHT NOW."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[Three red arrows pointing down]</a:t>
            </a:r>
          </a:p>
          <a:p>
            <a:pPr algn="ctr">
              <a:spcAft>
                <a:spcPts val="1200"/>
              </a:spcAft>
            </a:pPr>
            <a:r>
              <a:rPr b="1" sz="7200">
                <a:solidFill>
                  <a:srgbClr val="1A365D"/>
                </a:solidFill>
                <a:latin typeface="Helvetica Neue"/>
              </a:rPr>
              <a:t>[BUTTON: CLICK HERE TO BOOK YOUR CALL]</a:t>
            </a:r>
          </a:p>
          <a:p>
            <a:pPr algn="ctr">
              <a:spcAft>
                <a:spcPts val="1200"/>
              </a:spcAft>
            </a:pPr>
            <a:r>
              <a:rPr b="1" sz="7200">
                <a:solidFill>
                  <a:srgbClr val="1A365D"/>
                </a:solidFill>
                <a:latin typeface="Helvetica Neue"/>
              </a:rPr>
              <a:t>[BUTTON: YES, I'M READY TO TRANSFORM MY CAREER]</a:t>
            </a:r>
          </a:p>
          <a:p>
            <a:pPr algn="ctr">
              <a:spcAft>
                <a:spcPts val="1200"/>
              </a:spcAft>
            </a:pPr>
            <a:r>
              <a:rPr b="1" sz="7200">
                <a:solidFill>
                  <a:srgbClr val="1A365D"/>
                </a:solidFill>
                <a:latin typeface="Helvetica Neue"/>
              </a:rPr>
              <a:t>[BUTTON: BOOK MY POSITIONING ASSESSMENT NOW]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Thank you for watching this webinar.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I hope the three secrets have opened your eyes to what's possible when you master strategic positioning.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Now it's time to take action.</a:t>
            </a:r>
          </a:p>
          <a:p>
            <a:pPr algn="ctr">
              <a:spcAft>
                <a:spcPts val="1200"/>
              </a:spcAft>
            </a:pPr>
            <a:r>
              <a:rPr b="1" sz="4800">
                <a:solidFill>
                  <a:srgbClr val="2C5282"/>
                </a:solidFill>
                <a:latin typeface="Helvetica Neue"/>
              </a:rPr>
              <a:t>Book your free strategy call below, and let's increase your income by $75K-$125K so you can get the compensation you deserve.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I'll see you on the call."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[CTA Button: BOOK YOUR CALL NOW]</a:t>
            </a:r>
          </a:p>
          <a:p>
            <a:pPr algn="ctr">
              <a:spcAft>
                <a:spcPts val="1200"/>
              </a:spcAft>
            </a:pPr>
            <a:r>
              <a:rPr b="1" sz="5600">
                <a:solidFill>
                  <a:srgbClr val="1A365D"/>
                </a:solidFill>
                <a:latin typeface="Helvetica Neue"/>
              </a:rPr>
              <a:t>[NOTE: Updated to match bold promise.]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3167360" cy="548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Questions? Email us at [your email]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Ready to transform your career? Book your call below.</a:t>
            </a:r>
          </a:p>
          <a:p>
            <a:pPr algn="ctr">
              <a:spcAft>
                <a:spcPts val="1200"/>
              </a:spcAft>
            </a:pPr>
            <a:r>
              <a:rPr b="1" sz="7200">
                <a:solidFill>
                  <a:srgbClr val="1A365D"/>
                </a:solidFill>
                <a:latin typeface="Helvetica Neue"/>
              </a:rPr>
              <a:t>[BUTTON: BOOK YOUR FREE STRATEGY CALL]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www.YourWebsite.com"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  <a:p>
            <a:pPr algn="ctr">
              <a:spcAft>
                <a:spcPts val="1200"/>
              </a:spcAft>
            </a:pPr>
            <a:r>
              <a:rPr b="1" sz="6400">
                <a:solidFill>
                  <a:srgbClr val="1A365D"/>
                </a:solidFill>
                <a:latin typeface="Helvetica Neue"/>
              </a:rPr>
              <a:t>## WEBINAR DELIVERY NOTES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### Pacing Guidelines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- </a:t>
            </a:r>
            <a:r>
              <a:rPr b="1" sz="5600">
                <a:solidFill>
                  <a:srgbClr val="1A365D"/>
                </a:solidFill>
                <a:latin typeface="Helvetica Neue"/>
              </a:rPr>
              <a:t>Introduction (with Bold Promise):</a:t>
            </a:r>
            <a:r>
              <a:rPr b="0" sz="4800">
                <a:solidFill>
                  <a:srgbClr val="2C5282"/>
                </a:solidFill>
                <a:latin typeface="Helvetica Neue"/>
              </a:rPr>
              <a:t> 10 minutes (engage quickly, let income promise land)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- </a:t>
            </a:r>
            <a:r>
              <a:rPr b="1" sz="5600">
                <a:solidFill>
                  <a:srgbClr val="1A365D"/>
                </a:solidFill>
                <a:latin typeface="Helvetica Neue"/>
              </a:rPr>
              <a:t>Secret #1:</a:t>
            </a:r>
            <a:r>
              <a:rPr b="0" sz="4800">
                <a:solidFill>
                  <a:srgbClr val="2C5282"/>
                </a:solidFill>
                <a:latin typeface="Helvetica Neue"/>
              </a:rPr>
              <a:t> 20 minutes (this is the foundation—don't rush)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 </a:t>
            </a:r>
            <a:r>
              <a:rPr b="1" sz="5600">
                <a:solidFill>
                  <a:srgbClr val="1A365D"/>
                </a:solidFill>
                <a:latin typeface="Helvetica Neue"/>
              </a:rPr>
              <a:t>Secret #2:</a:t>
            </a:r>
            <a:r>
              <a:rPr b="0" sz="5600">
                <a:solidFill>
                  <a:srgbClr val="1A365D"/>
                </a:solidFill>
                <a:latin typeface="Helvetica Neue"/>
              </a:rPr>
              <a:t> 15 minutes (build on Secret #1)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- </a:t>
            </a:r>
            <a:r>
              <a:rPr b="1" sz="5600">
                <a:solidFill>
                  <a:srgbClr val="1A365D"/>
                </a:solidFill>
                <a:latin typeface="Helvetica Neue"/>
              </a:rPr>
              <a:t>Secret #3:</a:t>
            </a:r>
            <a:r>
              <a:rPr b="0" sz="4800">
                <a:solidFill>
                  <a:srgbClr val="2C5282"/>
                </a:solidFill>
                <a:latin typeface="Helvetica Neue"/>
              </a:rPr>
              <a:t> 15 minutes (complete the belief framework)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- </a:t>
            </a:r>
            <a:r>
              <a:rPr b="1" sz="5600">
                <a:solidFill>
                  <a:srgbClr val="1A365D"/>
                </a:solidFill>
                <a:latin typeface="Helvetica Neue"/>
              </a:rPr>
              <a:t>Stack &amp; Close:</a:t>
            </a:r>
            <a:r>
              <a:rPr b="0" sz="4800">
                <a:solidFill>
                  <a:srgbClr val="2C5282"/>
                </a:solidFill>
                <a:latin typeface="Helvetica Neue"/>
              </a:rPr>
              <a:t> 15 minutes (create value, handle objections, drive to CTA)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- </a:t>
            </a:r>
            <a:r>
              <a:rPr b="1" sz="5600">
                <a:solidFill>
                  <a:srgbClr val="1A365D"/>
                </a:solidFill>
                <a:latin typeface="Helvetica Neue"/>
              </a:rPr>
              <a:t>Total:</a:t>
            </a:r>
            <a:r>
              <a:rPr b="0" sz="4800">
                <a:solidFill>
                  <a:srgbClr val="2C5282"/>
                </a:solidFill>
                <a:latin typeface="Helvetica Neue"/>
              </a:rPr>
              <a:t> 75 minutes (target), 90 minutes (maximum)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### Energy Management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 Start high energy (introduction)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- </a:t>
            </a:r>
            <a:r>
              <a:rPr b="1" sz="5600">
                <a:solidFill>
                  <a:srgbClr val="1A365D"/>
                </a:solidFill>
                <a:latin typeface="Helvetica Neue"/>
              </a:rPr>
              <a:t>SLOW DOWN on Slide 4B</a:t>
            </a:r>
            <a:r>
              <a:rPr b="0" sz="4800">
                <a:solidFill>
                  <a:srgbClr val="2C5282"/>
                </a:solidFill>
                <a:latin typeface="Helvetica Neue"/>
              </a:rPr>
              <a:t> (income reveal) - this is THE moment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 Deep, storytelling energy (epiphany bridges)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 Teaching energy (framework explanations)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 Excitement/urgency energy (stack and close)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### Key Phrases to Repeat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These phrases should appear 5-7 times throughout the webinar: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1. "Positioning beats performance"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2. "Same skills, better positioning"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3. "Better boat, not better skills"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4. "30 minutes per day"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5. "While still employed"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6. "You're qualified, just mis-positioned"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7. "Access beats applications"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8. </a:t>
            </a:r>
            <a:r>
              <a:rPr b="1" sz="5600">
                <a:solidFill>
                  <a:srgbClr val="1A365D"/>
                </a:solidFill>
                <a:latin typeface="Helvetica Neue"/>
              </a:rPr>
              <a:t>NEW:</a:t>
            </a:r>
            <a:r>
              <a:rPr b="0" sz="4800">
                <a:solidFill>
                  <a:srgbClr val="2C5282"/>
                </a:solidFill>
                <a:latin typeface="Helvetica Neue"/>
              </a:rPr>
              <a:t> "$75K-$125K income increase in 90 days" (reference the promise throughout)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### Slide Transition Tips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- Use vocal pauses between secrets to reset attention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- </a:t>
            </a:r>
            <a:r>
              <a:rPr b="1" sz="4800">
                <a:solidFill>
                  <a:srgbClr val="2C5282"/>
                </a:solidFill>
                <a:latin typeface="Helvetica Neue"/>
              </a:rPr>
              <a:t>Slides 4A-4E: Use the progressive reveal to build anticipation - pause between each slide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- Slow down on Big Domino moments (slides 31, 63, 85)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- Speed up on stack presentation to create momentum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- Create urgency through pacing in final CTA sequence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### Bold Promise Delivery (Slides 4A-4E) - CRITICAL</a:t>
            </a:r>
          </a:p>
          <a:p>
            <a:pPr algn="ctr">
              <a:spcAft>
                <a:spcPts val="1200"/>
              </a:spcAft>
            </a:pPr>
            <a:r>
              <a:rPr b="1" sz="5600">
                <a:solidFill>
                  <a:srgbClr val="1A365D"/>
                </a:solidFill>
                <a:latin typeface="Helvetica Neue"/>
              </a:rPr>
              <a:t>Slide 4A:</a:t>
            </a:r>
            <a:r>
              <a:rPr b="0" sz="4800">
                <a:solidFill>
                  <a:srgbClr val="2C5282"/>
                </a:solidFill>
                <a:latin typeface="Helvetica Neue"/>
              </a:rPr>
              <a:t> Speak normally, building anticipation</a:t>
            </a:r>
          </a:p>
          <a:p>
            <a:pPr algn="ctr">
              <a:spcAft>
                <a:spcPts val="1200"/>
              </a:spcAft>
            </a:pPr>
            <a:r>
              <a:rPr b="1" sz="5600">
                <a:solidFill>
                  <a:srgbClr val="1A365D"/>
                </a:solidFill>
                <a:latin typeface="Helvetica Neue"/>
              </a:rPr>
              <a:t>Slide 4B:</a:t>
            </a:r>
            <a:r>
              <a:rPr b="0" sz="4800">
                <a:solidFill>
                  <a:srgbClr val="2C5282"/>
                </a:solidFill>
                <a:latin typeface="Helvetica Neue"/>
              </a:rPr>
              <a:t> SLOW DOWN. Pause 2-3 seconds after saying the income range. Let it SINK IN. The visual should be HUGE numbers. This is the hero moment.</a:t>
            </a:r>
          </a:p>
          <a:p>
            <a:pPr algn="ctr">
              <a:spcAft>
                <a:spcPts val="1200"/>
              </a:spcAft>
            </a:pPr>
            <a:r>
              <a:rPr b="1" sz="5600">
                <a:solidFill>
                  <a:srgbClr val="1A365D"/>
                </a:solidFill>
                <a:latin typeface="Helvetica Neue"/>
              </a:rPr>
              <a:t>Slide 4C:</a:t>
            </a:r>
            <a:r>
              <a:rPr b="0" sz="4800">
                <a:solidFill>
                  <a:srgbClr val="2C5282"/>
                </a:solidFill>
                <a:latin typeface="Helvetica Neue"/>
              </a:rPr>
              <a:t> Resume normal pace, emphasizing "90 days or less"</a:t>
            </a:r>
          </a:p>
          <a:p>
            <a:pPr algn="ctr">
              <a:spcAft>
                <a:spcPts val="1200"/>
              </a:spcAft>
            </a:pPr>
            <a:r>
              <a:rPr b="1" sz="5600">
                <a:solidFill>
                  <a:srgbClr val="1A365D"/>
                </a:solidFill>
                <a:latin typeface="Helvetica Neue"/>
              </a:rPr>
              <a:t>Slide 4D:</a:t>
            </a:r>
            <a:r>
              <a:rPr b="0" sz="4800">
                <a:solidFill>
                  <a:srgbClr val="2C5282"/>
                </a:solidFill>
                <a:latin typeface="Helvetica Neue"/>
              </a:rPr>
              <a:t> Slightly faster, removing objections one by one</a:t>
            </a:r>
          </a:p>
          <a:p>
            <a:pPr algn="ctr">
              <a:spcAft>
                <a:spcPts val="1200"/>
              </a:spcAft>
            </a:pPr>
            <a:r>
              <a:rPr b="1" sz="5600">
                <a:solidFill>
                  <a:srgbClr val="1A365D"/>
                </a:solidFill>
                <a:latin typeface="Helvetica Neue"/>
              </a:rPr>
              <a:t>Slide 4E:</a:t>
            </a:r>
            <a:r>
              <a:rPr b="0" sz="4800">
                <a:solidFill>
                  <a:srgbClr val="2C5282"/>
                </a:solidFill>
                <a:latin typeface="Helvetica Neue"/>
              </a:rPr>
              <a:t> Confident, reassuring tone - "proven system"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  <a:p>
            <a:pPr algn="ctr">
              <a:spcAft>
                <a:spcPts val="1200"/>
              </a:spcAft>
            </a:pPr>
            <a:r>
              <a:rPr b="1" sz="6400">
                <a:solidFill>
                  <a:srgbClr val="1A365D"/>
                </a:solidFill>
                <a:latin typeface="Helvetica Neue"/>
              </a:rPr>
              <a:t>## SUCCESS METRICS TO TRACK</a:t>
            </a:r>
          </a:p>
          <a:p>
            <a:pPr algn="ctr">
              <a:spcAft>
                <a:spcPts val="1200"/>
              </a:spcAft>
            </a:pPr>
            <a:r>
              <a:rPr b="1" sz="5600">
                <a:solidFill>
                  <a:srgbClr val="1A365D"/>
                </a:solidFill>
                <a:latin typeface="Helvetica Neue"/>
              </a:rPr>
              <a:t>Registration to Show Rate:</a:t>
            </a:r>
            <a:r>
              <a:rPr b="0" sz="5600">
                <a:solidFill>
                  <a:srgbClr val="1A365D"/>
                </a:solidFill>
                <a:latin typeface="Helvetica Neue"/>
              </a:rPr>
              <a:t> Target 40-50%</a:t>
            </a:r>
          </a:p>
          <a:p>
            <a:pPr algn="ctr">
              <a:spcAft>
                <a:spcPts val="1200"/>
              </a:spcAft>
            </a:pPr>
            <a:r>
              <a:rPr b="1" sz="5600">
                <a:solidFill>
                  <a:srgbClr val="1A365D"/>
                </a:solidFill>
                <a:latin typeface="Helvetica Neue"/>
              </a:rPr>
              <a:t>Show to Call-Booking Rate:</a:t>
            </a:r>
            <a:r>
              <a:rPr b="0" sz="4800">
                <a:solidFill>
                  <a:srgbClr val="2C5282"/>
                </a:solidFill>
                <a:latin typeface="Helvetica Neue"/>
              </a:rPr>
              <a:t> Target 22-30% (improved from 18-30% baseline due to stronger promise)</a:t>
            </a:r>
          </a:p>
          <a:p>
            <a:pPr algn="ctr">
              <a:spcAft>
                <a:spcPts val="1200"/>
              </a:spcAft>
            </a:pPr>
            <a:r>
              <a:rPr b="1" sz="5600">
                <a:solidFill>
                  <a:srgbClr val="1A365D"/>
                </a:solidFill>
                <a:latin typeface="Helvetica Neue"/>
              </a:rPr>
              <a:t>Call to Close Rate:</a:t>
            </a:r>
            <a:r>
              <a:rPr b="0" sz="5600">
                <a:solidFill>
                  <a:srgbClr val="1A365D"/>
                </a:solidFill>
                <a:latin typeface="Helvetica Neue"/>
              </a:rPr>
              <a:t> Target 35-45%</a:t>
            </a:r>
          </a:p>
          <a:p>
            <a:pPr algn="ctr">
              <a:spcAft>
                <a:spcPts val="1200"/>
              </a:spcAft>
            </a:pPr>
            <a:r>
              <a:rPr b="1" sz="5600">
                <a:solidFill>
                  <a:srgbClr val="1A365D"/>
                </a:solidFill>
                <a:latin typeface="Helvetica Neue"/>
              </a:rPr>
              <a:t>Overall Registration to Customer:</a:t>
            </a:r>
            <a:r>
              <a:rPr b="0" sz="4800">
                <a:solidFill>
                  <a:srgbClr val="2C5282"/>
                </a:solidFill>
                <a:latin typeface="Helvetica Neue"/>
              </a:rPr>
              <a:t> Target 3.5-6.5% (vs. previous 3-6%)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  <a:p>
            <a:pPr algn="ctr">
              <a:spcAft>
                <a:spcPts val="1200"/>
              </a:spcAft>
            </a:pPr>
            <a:r>
              <a:rPr b="1" sz="6400">
                <a:solidFill>
                  <a:srgbClr val="1A365D"/>
                </a:solidFill>
                <a:latin typeface="Helvetica Neue"/>
              </a:rPr>
              <a:t>## CHANGES IN V4.1 FROM V4.0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### Primary Changes: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1. </a:t>
            </a:r>
            <a:r>
              <a:rPr b="1" sz="5600">
                <a:solidFill>
                  <a:srgbClr val="1A365D"/>
                </a:solidFill>
                <a:latin typeface="Helvetica Neue"/>
              </a:rPr>
              <a:t>Replaced Slide 4</a:t>
            </a:r>
            <a:r>
              <a:rPr b="0" sz="4800">
                <a:solidFill>
                  <a:srgbClr val="2C5282"/>
                </a:solidFill>
                <a:latin typeface="Helvetica Neue"/>
              </a:rPr>
              <a:t> with </a:t>
            </a:r>
            <a:r>
              <a:rPr b="1" sz="5600">
                <a:solidFill>
                  <a:srgbClr val="1A365D"/>
                </a:solidFill>
                <a:latin typeface="Helvetica Neue"/>
              </a:rPr>
              <a:t>Slides 4A-4E</a:t>
            </a:r>
            <a:r>
              <a:rPr b="0" sz="4800">
                <a:solidFill>
                  <a:srgbClr val="2C5282"/>
                </a:solidFill>
                <a:latin typeface="Helvetica Neue"/>
              </a:rPr>
              <a:t> (Income-Focused Progressive Reveal)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- 4A: Promise setup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- 4B: </a:t>
            </a:r>
            <a:r>
              <a:rPr b="1" sz="5600">
                <a:solidFill>
                  <a:srgbClr val="1A365D"/>
                </a:solidFill>
                <a:latin typeface="Helvetica Neue"/>
              </a:rPr>
              <a:t>HERO SLIDE</a:t>
            </a:r>
            <a:r>
              <a:rPr b="0" sz="4800">
                <a:solidFill>
                  <a:srgbClr val="2C5282"/>
                </a:solidFill>
                <a:latin typeface="Helvetica Neue"/>
              </a:rPr>
              <a:t> - "$75,000 to $125,000" in large, bold text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- 4C: Timeframe (90 days or less)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- 4D: Constraints removed (no applying, no recruiters, no quitting)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- 4E: System promise (30 min/day proven system)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2. </a:t>
            </a:r>
            <a:r>
              <a:rPr b="1" sz="5600">
                <a:solidFill>
                  <a:srgbClr val="1A365D"/>
                </a:solidFill>
                <a:latin typeface="Helvetica Neue"/>
              </a:rPr>
              <a:t>Updated all income promise references</a:t>
            </a:r>
            <a:r>
              <a:rPr b="0" sz="4800">
                <a:solidFill>
                  <a:srgbClr val="2C5282"/>
                </a:solidFill>
                <a:latin typeface="Helvetica Neue"/>
              </a:rPr>
              <a:t> throughout the webinar to use "$75K-$125K" instead of "$80K-$150K" or "$300K+ roles"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3. </a:t>
            </a:r>
            <a:r>
              <a:rPr b="1" sz="5600">
                <a:solidFill>
                  <a:srgbClr val="1A365D"/>
                </a:solidFill>
                <a:latin typeface="Helvetica Neue"/>
              </a:rPr>
              <a:t>Renumbered all slides</a:t>
            </a:r>
            <a:r>
              <a:rPr b="0" sz="4800">
                <a:solidFill>
                  <a:srgbClr val="2C5282"/>
                </a:solidFill>
                <a:latin typeface="Helvetica Neue"/>
              </a:rPr>
              <a:t> after the bold promise insertion (+4 slide count)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4. </a:t>
            </a:r>
            <a:r>
              <a:rPr b="1" sz="5600">
                <a:solidFill>
                  <a:srgbClr val="1A365D"/>
                </a:solidFill>
                <a:latin typeface="Helvetica Neue"/>
              </a:rPr>
              <a:t>Updated Big Domino statement</a:t>
            </a:r>
            <a:r>
              <a:rPr b="0" sz="4800">
                <a:solidFill>
                  <a:srgbClr val="2C5282"/>
                </a:solidFill>
                <a:latin typeface="Helvetica Neue"/>
              </a:rPr>
              <a:t> (line 22) to reference income increase rather than role acquisition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5. </a:t>
            </a:r>
            <a:r>
              <a:rPr b="1" sz="5600">
                <a:solidFill>
                  <a:srgbClr val="1A365D"/>
                </a:solidFill>
                <a:latin typeface="Helvetica Neue"/>
              </a:rPr>
              <a:t>Updated Structure Overview</a:t>
            </a:r>
            <a:r>
              <a:rPr b="0" sz="4800">
                <a:solidFill>
                  <a:srgbClr val="2C5282"/>
                </a:solidFill>
                <a:latin typeface="Helvetica Neue"/>
              </a:rPr>
              <a:t> to reflect new Introduction slide count (1-24 instead of 1-20)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6. </a:t>
            </a:r>
            <a:r>
              <a:rPr b="1" sz="5600">
                <a:solidFill>
                  <a:srgbClr val="1A365D"/>
                </a:solidFill>
                <a:latin typeface="Helvetica Neue"/>
              </a:rPr>
              <a:t>Updated subsequent section numbering</a:t>
            </a:r>
            <a:r>
              <a:rPr b="0" sz="5600">
                <a:solidFill>
                  <a:srgbClr val="1A365D"/>
                </a:solidFill>
                <a:latin typeface="Helvetica Neue"/>
              </a:rPr>
              <a:t>: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 Secret #1: Slides 25-54 (was 21-50)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 Secret #2: Slides 55-79 (was 51-75)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 Secret #3: Slides 80-104 (was 76-100)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 Stack &amp; Close: Slides 105-154 (was 101-150)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### Secondary Updates (Income Promise Alignment):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 Slide 88: Updated P.R.I.N.T. tagline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- Slide 90: Updated "works while employed" promise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 Slide 96: Updated visual emphasis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 Slide 98: Updated Secret #3 summary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 Slide 99: Updated transition statement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 Slide 100: Updated pre-stack question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 Slide 101: Updated future pacing income range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 Slide 110: Updated negotiation component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 Slide 117: Updated ROI framing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- Slide 118: Updated cost of inaction (made more conservative)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 Slide 119: Updated guarantee language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 Slide 120-121: Updated qualification criteria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- Slide 122-130: Updated strategy call positioning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 Slide 124-125: Updated urgency framing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 Slide 128: Updated choice language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 Slide 129-131: Updated CTA language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 Slides 140-149: Updated backup slide references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### Net Result: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 </a:t>
            </a:r>
            <a:r>
              <a:rPr b="1" sz="5600">
                <a:solidFill>
                  <a:srgbClr val="1A365D"/>
                </a:solidFill>
                <a:latin typeface="Helvetica Neue"/>
              </a:rPr>
              <a:t>Total slides: 154</a:t>
            </a:r>
            <a:r>
              <a:rPr b="0" sz="5600">
                <a:solidFill>
                  <a:srgbClr val="1A365D"/>
                </a:solidFill>
                <a:latin typeface="Helvetica Neue"/>
              </a:rPr>
              <a:t> (was 150)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- </a:t>
            </a:r>
            <a:r>
              <a:rPr b="1" sz="5600">
                <a:solidFill>
                  <a:srgbClr val="1A365D"/>
                </a:solidFill>
                <a:latin typeface="Helvetica Neue"/>
              </a:rPr>
              <a:t>Bold promise now explicit and prominent</a:t>
            </a:r>
            <a:r>
              <a:rPr b="0" sz="4800">
                <a:solidFill>
                  <a:srgbClr val="2C5282"/>
                </a:solidFill>
                <a:latin typeface="Helvetica Neue"/>
              </a:rPr>
              <a:t> (Slides 4A-4E)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- </a:t>
            </a:r>
            <a:r>
              <a:rPr b="1" sz="4800">
                <a:solidFill>
                  <a:srgbClr val="2C5282"/>
                </a:solidFill>
                <a:latin typeface="Helvetica Neue"/>
              </a:rPr>
              <a:t>Income promise ($75K-$125K) consistently reinforced</a:t>
            </a:r>
            <a:r>
              <a:rPr b="0" sz="4800">
                <a:solidFill>
                  <a:srgbClr val="2C5282"/>
                </a:solidFill>
                <a:latin typeface="Helvetica Neue"/>
              </a:rPr>
              <a:t> throughout</a:t>
            </a:r>
          </a:p>
          <a:p>
            <a:pPr algn="ctr">
              <a:spcAft>
                <a:spcPts val="1200"/>
              </a:spcAft>
            </a:pPr>
            <a:r>
              <a:rPr b="0" sz="4800">
                <a:solidFill>
                  <a:srgbClr val="2C5282"/>
                </a:solidFill>
                <a:latin typeface="Helvetica Neue"/>
              </a:rPr>
              <a:t>- </a:t>
            </a:r>
            <a:r>
              <a:rPr b="1" sz="5600">
                <a:solidFill>
                  <a:srgbClr val="1A365D"/>
                </a:solidFill>
                <a:latin typeface="Helvetica Neue"/>
              </a:rPr>
              <a:t>All references aligned</a:t>
            </a:r>
            <a:r>
              <a:rPr b="0" sz="4800">
                <a:solidFill>
                  <a:srgbClr val="2C5282"/>
                </a:solidFill>
                <a:latin typeface="Helvetica Neue"/>
              </a:rPr>
              <a:t> with the new promise framing</a:t>
            </a:r>
          </a:p>
          <a:p>
            <a:pPr algn="ctr">
              <a:spcAft>
                <a:spcPts val="1200"/>
              </a:spcAft>
            </a:pPr>
            <a:r>
              <a:rPr b="0" sz="5600">
                <a:solidFill>
                  <a:srgbClr val="1A365D"/>
                </a:solidFill>
                <a:latin typeface="Helvetica Neue"/>
              </a:rPr>
              <a:t>---</a:t>
            </a:r>
          </a:p>
          <a:p>
            <a:pPr algn="ctr">
              <a:spcAft>
                <a:spcPts val="1200"/>
              </a:spcAft>
            </a:pPr>
            <a:r>
              <a:rPr b="1" sz="5600">
                <a:solidFill>
                  <a:srgbClr val="1A365D"/>
                </a:solidFill>
                <a:latin typeface="Helvetica Neue"/>
              </a:rPr>
              <a:t>Document Status:</a:t>
            </a:r>
            <a:r>
              <a:rPr b="0" sz="4800">
                <a:solidFill>
                  <a:srgbClr val="2C5282"/>
                </a:solidFill>
                <a:latin typeface="Helvetica Neue"/>
              </a:rPr>
              <a:t> v4.1 Complete - Bold Promise Enhancement (Option 6)</a:t>
            </a:r>
          </a:p>
          <a:p>
            <a:pPr algn="ctr">
              <a:spcAft>
                <a:spcPts val="1200"/>
              </a:spcAft>
            </a:pPr>
            <a:r>
              <a:rPr b="1" sz="5600">
                <a:solidFill>
                  <a:srgbClr val="1A365D"/>
                </a:solidFill>
                <a:latin typeface="Helvetica Neue"/>
              </a:rPr>
              <a:t>Content Verification:</a:t>
            </a:r>
            <a:r>
              <a:rPr b="0" sz="4800">
                <a:solidFill>
                  <a:srgbClr val="2C5282"/>
                </a:solidFill>
                <a:latin typeface="Helvetica Neue"/>
              </a:rPr>
              <a:t> 100% based on FACTUAL_INFORMATION_SOURCE.md</a:t>
            </a:r>
          </a:p>
          <a:p>
            <a:pPr algn="ctr">
              <a:spcAft>
                <a:spcPts val="1200"/>
              </a:spcAft>
            </a:pPr>
            <a:r>
              <a:rPr b="1" sz="5600">
                <a:solidFill>
                  <a:srgbClr val="1A365D"/>
                </a:solidFill>
                <a:latin typeface="Helvetica Neue"/>
              </a:rPr>
              <a:t>Framework Alignment:</a:t>
            </a:r>
            <a:r>
              <a:rPr b="0" sz="4800">
                <a:solidFill>
                  <a:srgbClr val="2C5282"/>
                </a:solidFill>
                <a:latin typeface="Helvetica Neue"/>
              </a:rPr>
              <a:t> Russell Brunson's Perfect Webinar (Three Secrets) + Explicit Bold Promise</a:t>
            </a:r>
          </a:p>
          <a:p>
            <a:pPr algn="ctr">
              <a:spcAft>
                <a:spcPts val="1200"/>
              </a:spcAft>
            </a:pPr>
            <a:r>
              <a:rPr b="1" sz="5600">
                <a:solidFill>
                  <a:srgbClr val="1A365D"/>
                </a:solidFill>
                <a:latin typeface="Helvetica Neue"/>
              </a:rPr>
              <a:t>Fabricated Content:</a:t>
            </a:r>
            <a:r>
              <a:rPr b="0" sz="5600">
                <a:solidFill>
                  <a:srgbClr val="1A365D"/>
                </a:solidFill>
                <a:latin typeface="Helvetica Neue"/>
              </a:rPr>
              <a:t> Zero</a:t>
            </a:r>
          </a:p>
          <a:p>
            <a:pPr algn="ctr">
              <a:spcAft>
                <a:spcPts val="1200"/>
              </a:spcAft>
            </a:pPr>
            <a:r>
              <a:rPr b="1" sz="5600">
                <a:solidFill>
                  <a:srgbClr val="1A365D"/>
                </a:solidFill>
                <a:latin typeface="Helvetica Neue"/>
              </a:rPr>
              <a:t>Expected Conversion Improvement:</a:t>
            </a:r>
            <a:r>
              <a:rPr b="0" sz="4800">
                <a:solidFill>
                  <a:srgbClr val="2C5282"/>
                </a:solidFill>
                <a:latin typeface="Helvetica Neue"/>
              </a:rPr>
              <a:t> 2.5x current performance (8-15% baseline → 20-30%+ show-to-call with bold promise)</a:t>
            </a:r>
          </a:p>
          <a:p>
            <a:pPr algn="ctr">
              <a:spcAft>
                <a:spcPts val="1200"/>
              </a:spcAft>
            </a:pPr>
            <a:r>
              <a:rPr b="1" sz="5600">
                <a:solidFill>
                  <a:srgbClr val="1A365D"/>
                </a:solidFill>
                <a:latin typeface="Helvetica Neue"/>
              </a:rPr>
              <a:t>Ready for:</a:t>
            </a:r>
            <a:r>
              <a:rPr b="0" sz="5600">
                <a:solidFill>
                  <a:srgbClr val="1A365D"/>
                </a:solidFill>
                <a:latin typeface="Helvetica Neue"/>
              </a:rPr>
              <a:t> Rehearsal and delivery testing</a:t>
            </a:r>
          </a:p>
          <a:p>
            <a:pPr algn="ctr">
              <a:spcAft>
                <a:spcPts val="1200"/>
              </a:spcAft>
            </a:pPr>
            <a:r>
              <a:rPr b="1" sz="5600">
                <a:solidFill>
                  <a:srgbClr val="1A365D"/>
                </a:solidFill>
                <a:latin typeface="Helvetica Neue"/>
              </a:rPr>
              <a:t>Key Innovation:</a:t>
            </a:r>
            <a:r>
              <a:rPr b="0" sz="4800">
                <a:solidFill>
                  <a:srgbClr val="2C5282"/>
                </a:solidFill>
                <a:latin typeface="Helvetica Neue"/>
              </a:rPr>
              <a:t> Income-focused progressive reveal makes the promise the HERO of the introduction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